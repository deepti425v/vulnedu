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5"/>
  </p:sldMasterIdLst>
  <p:notesMasterIdLst>
    <p:notesMasterId r:id="rId20"/>
  </p:notesMasterIdLst>
  <p:sldIdLst>
    <p:sldId id="256" r:id="rId6"/>
    <p:sldId id="258" r:id="rId7"/>
    <p:sldId id="289" r:id="rId8"/>
    <p:sldId id="259" r:id="rId9"/>
    <p:sldId id="290" r:id="rId10"/>
    <p:sldId id="294" r:id="rId11"/>
    <p:sldId id="286" r:id="rId12"/>
    <p:sldId id="261" r:id="rId13"/>
    <p:sldId id="260" r:id="rId14"/>
    <p:sldId id="292" r:id="rId15"/>
    <p:sldId id="291" r:id="rId16"/>
    <p:sldId id="283" r:id="rId17"/>
    <p:sldId id="284" r:id="rId18"/>
    <p:sldId id="29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3D8"/>
    <a:srgbClr val="FF8200"/>
    <a:srgbClr val="FF7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31" autoAdjust="0"/>
    <p:restoredTop sz="95033" autoAdjust="0"/>
  </p:normalViewPr>
  <p:slideViewPr>
    <p:cSldViewPr snapToGrid="0" snapToObjects="1">
      <p:cViewPr varScale="1">
        <p:scale>
          <a:sx n="79" d="100"/>
          <a:sy n="79" d="100"/>
        </p:scale>
        <p:origin x="6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D953B7-98C4-4D74-A915-88FF8E1830B8}" type="datetimeFigureOut">
              <a:rPr lang="en-IN" smtClean="0"/>
              <a:t>22-10-2025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6634B-7F94-42D9-8E4F-C7BFB1399E24}" type="slidenum">
              <a:rPr lang="en-IN" smtClean="0"/>
              <a:t>‹#›</a:t>
            </a:fld>
            <a:endParaRPr lang="en-IN"/>
          </a:p>
        </p:txBody>
      </p:sp>
    </p:spTree>
    <p:extLst>
      <p:ext uri="{BB962C8B-B14F-4D97-AF65-F5344CB8AC3E}">
        <p14:creationId xmlns:p14="http://schemas.microsoft.com/office/powerpoint/2010/main" val="29621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Deepti Veldanda and today I'll be presenting my project called the Educational CVE Analysis Tool, also known as the VulnEdu Dashboard."</a:t>
            </a:r>
            <a:endParaRPr lang="en-IN" dirty="0"/>
          </a:p>
        </p:txBody>
      </p:sp>
      <p:sp>
        <p:nvSpPr>
          <p:cNvPr id="4" name="Slide Number Placeholder 3"/>
          <p:cNvSpPr>
            <a:spLocks noGrp="1"/>
          </p:cNvSpPr>
          <p:nvPr>
            <p:ph type="sldNum" sz="quarter" idx="5"/>
          </p:nvPr>
        </p:nvSpPr>
        <p:spPr/>
        <p:txBody>
          <a:bodyPr/>
          <a:lstStyle/>
          <a:p>
            <a:fld id="{8186634B-7F94-42D9-8E4F-C7BFB1399E24}" type="slidenum">
              <a:rPr lang="en-IN" smtClean="0"/>
              <a:t>1</a:t>
            </a:fld>
            <a:endParaRPr lang="en-IN"/>
          </a:p>
        </p:txBody>
      </p:sp>
    </p:spTree>
    <p:extLst>
      <p:ext uri="{BB962C8B-B14F-4D97-AF65-F5344CB8AC3E}">
        <p14:creationId xmlns:p14="http://schemas.microsoft.com/office/powerpoint/2010/main" val="3899332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paint you a picture. Imagine you're a cybersecurity student, and your professor assigns you to research vulnerabilities. You go to the official government database - the NVD website - and you're immediately overwhelmed with thousands of entries like CVE-2021-44228: Apache Log4j2 Remote Code Execution Vulnerability which is widely know as Log4Shell with a CVSS score 10.</a:t>
            </a:r>
          </a:p>
          <a:p>
            <a:r>
              <a:rPr lang="en-US" dirty="0"/>
              <a:t>What does that even mean? How serious is a 10? Should you care more about this one, or the one with score 7.5 that affects millions more systems? And what does critical means?</a:t>
            </a:r>
          </a:p>
          <a:p>
            <a:r>
              <a:rPr lang="en-US" dirty="0"/>
              <a:t>That's exactly the problem I set out to solve. I built VulnEdu Dashboard - think of it as Google Analytics, but for learning about cybersecurity vulnerabilities. Instead of raw technical data, you get clear visualizations, simple explanations, and the ability to explore real vulnerability trends hands-on."</a:t>
            </a:r>
          </a:p>
        </p:txBody>
      </p:sp>
      <p:sp>
        <p:nvSpPr>
          <p:cNvPr id="4" name="Slide Number Placeholder 3"/>
          <p:cNvSpPr>
            <a:spLocks noGrp="1"/>
          </p:cNvSpPr>
          <p:nvPr>
            <p:ph type="sldNum" sz="quarter" idx="5"/>
          </p:nvPr>
        </p:nvSpPr>
        <p:spPr/>
        <p:txBody>
          <a:bodyPr/>
          <a:lstStyle/>
          <a:p>
            <a:fld id="{8186634B-7F94-42D9-8E4F-C7BFB1399E24}" type="slidenum">
              <a:rPr lang="en-IN" smtClean="0"/>
              <a:t>2</a:t>
            </a:fld>
            <a:endParaRPr lang="en-IN"/>
          </a:p>
        </p:txBody>
      </p:sp>
    </p:spTree>
    <p:extLst>
      <p:ext uri="{BB962C8B-B14F-4D97-AF65-F5344CB8AC3E}">
        <p14:creationId xmlns:p14="http://schemas.microsoft.com/office/powerpoint/2010/main" val="4094441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paint you a picture. Imagine you're a cybersecurity student, and your professor assigns you to research vulnerabilities. You go to the official government database - the NVD website - and you're immediately overwhelmed with thousands of entries like CVE-2021-44228: Apache Log4j2 Remote Code Execution Vulnerability which is widely know as Log4Shell with a CVSS score 10.</a:t>
            </a:r>
          </a:p>
          <a:p>
            <a:r>
              <a:rPr lang="en-US" dirty="0"/>
              <a:t>What does that even mean? How serious is a 10? Should you care more about this one, or the one with score 7.5 that affects millions more systems? And what does critical means?</a:t>
            </a:r>
          </a:p>
          <a:p>
            <a:r>
              <a:rPr lang="en-US" dirty="0"/>
              <a:t>That's exactly the problem I set out to solve. I built VulnEdu Dashboard - think of it as Google Analytics, but for learning about cybersecurity vulnerabilities. Instead of raw technical data, you get clear visualizations, simple explanations, and the ability to explore real vulnerability trends hands-on."</a:t>
            </a:r>
          </a:p>
        </p:txBody>
      </p:sp>
      <p:sp>
        <p:nvSpPr>
          <p:cNvPr id="4" name="Slide Number Placeholder 3"/>
          <p:cNvSpPr>
            <a:spLocks noGrp="1"/>
          </p:cNvSpPr>
          <p:nvPr>
            <p:ph type="sldNum" sz="quarter" idx="5"/>
          </p:nvPr>
        </p:nvSpPr>
        <p:spPr/>
        <p:txBody>
          <a:bodyPr/>
          <a:lstStyle/>
          <a:p>
            <a:fld id="{8186634B-7F94-42D9-8E4F-C7BFB1399E24}" type="slidenum">
              <a:rPr lang="en-IN" smtClean="0"/>
              <a:t>3</a:t>
            </a:fld>
            <a:endParaRPr lang="en-IN"/>
          </a:p>
        </p:txBody>
      </p:sp>
    </p:spTree>
    <p:extLst>
      <p:ext uri="{BB962C8B-B14F-4D97-AF65-F5344CB8AC3E}">
        <p14:creationId xmlns:p14="http://schemas.microsoft.com/office/powerpoint/2010/main" val="242417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did I build this? The problem is simple - cybersecurity students struggle to keep up with new vulnerabilities because existing tools are too technical and don't focus on learning. My solution was to create a dashboard that:</a:t>
            </a:r>
          </a:p>
          <a:p>
            <a:r>
              <a:rPr lang="en-US" dirty="0"/>
              <a:t>Gets real-time data from official sources</a:t>
            </a:r>
          </a:p>
          <a:p>
            <a:r>
              <a:rPr lang="en-US" dirty="0"/>
              <a:t>Shows information through easy-to-understand charts</a:t>
            </a:r>
          </a:p>
          <a:p>
            <a:r>
              <a:rPr lang="en-US" dirty="0"/>
              <a:t>Explains complex terms in simple language</a:t>
            </a:r>
          </a:p>
          <a:p>
            <a:r>
              <a:rPr lang="en-US" dirty="0"/>
              <a:t>Lets users filter and search through data easily"</a:t>
            </a:r>
          </a:p>
        </p:txBody>
      </p:sp>
      <p:sp>
        <p:nvSpPr>
          <p:cNvPr id="4" name="Slide Number Placeholder 3"/>
          <p:cNvSpPr>
            <a:spLocks noGrp="1"/>
          </p:cNvSpPr>
          <p:nvPr>
            <p:ph type="sldNum" sz="quarter" idx="5"/>
          </p:nvPr>
        </p:nvSpPr>
        <p:spPr/>
        <p:txBody>
          <a:bodyPr/>
          <a:lstStyle/>
          <a:p>
            <a:fld id="{8186634B-7F94-42D9-8E4F-C7BFB1399E24}" type="slidenum">
              <a:rPr lang="en-IN" smtClean="0"/>
              <a:t>4</a:t>
            </a:fld>
            <a:endParaRPr lang="en-IN"/>
          </a:p>
        </p:txBody>
      </p:sp>
    </p:spTree>
    <p:extLst>
      <p:ext uri="{BB962C8B-B14F-4D97-AF65-F5344CB8AC3E}">
        <p14:creationId xmlns:p14="http://schemas.microsoft.com/office/powerpoint/2010/main" val="2367365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59F72-533D-B91A-77D5-9E5310937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4F8EE-E5BA-006F-FF12-1CC3DD3E91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CD56D-EA1B-EDFA-F6B8-EB5030443598}"/>
              </a:ext>
            </a:extLst>
          </p:cNvPr>
          <p:cNvSpPr>
            <a:spLocks noGrp="1"/>
          </p:cNvSpPr>
          <p:nvPr>
            <p:ph type="body" idx="1"/>
          </p:nvPr>
        </p:nvSpPr>
        <p:spPr/>
        <p:txBody>
          <a:bodyPr/>
          <a:lstStyle/>
          <a:p>
            <a:r>
              <a:rPr lang="en-US" dirty="0"/>
              <a:t>"So why did I build this? The problem is simple - cybersecurity students struggle to keep up with new vulnerabilities because existing tools are too technical and don't focus on learning. My solution was to create a dashboard that:</a:t>
            </a:r>
          </a:p>
          <a:p>
            <a:r>
              <a:rPr lang="en-US" dirty="0"/>
              <a:t>Gets real-time data from official sources</a:t>
            </a:r>
          </a:p>
          <a:p>
            <a:r>
              <a:rPr lang="en-US" dirty="0"/>
              <a:t>Shows information through easy-to-understand charts</a:t>
            </a:r>
          </a:p>
          <a:p>
            <a:r>
              <a:rPr lang="en-US" dirty="0"/>
              <a:t>Explains complex terms in simple language</a:t>
            </a:r>
          </a:p>
          <a:p>
            <a:r>
              <a:rPr lang="en-US" dirty="0"/>
              <a:t>Lets users filter and search through data easily"</a:t>
            </a:r>
          </a:p>
        </p:txBody>
      </p:sp>
      <p:sp>
        <p:nvSpPr>
          <p:cNvPr id="4" name="Slide Number Placeholder 3">
            <a:extLst>
              <a:ext uri="{FF2B5EF4-FFF2-40B4-BE49-F238E27FC236}">
                <a16:creationId xmlns:a16="http://schemas.microsoft.com/office/drawing/2014/main" id="{890AF173-A9F4-34DD-AE56-A33F9FE6FBAD}"/>
              </a:ext>
            </a:extLst>
          </p:cNvPr>
          <p:cNvSpPr>
            <a:spLocks noGrp="1"/>
          </p:cNvSpPr>
          <p:nvPr>
            <p:ph type="sldNum" sz="quarter" idx="5"/>
          </p:nvPr>
        </p:nvSpPr>
        <p:spPr/>
        <p:txBody>
          <a:bodyPr/>
          <a:lstStyle/>
          <a:p>
            <a:fld id="{8186634B-7F94-42D9-8E4F-C7BFB1399E24}" type="slidenum">
              <a:rPr lang="en-IN" smtClean="0"/>
              <a:t>5</a:t>
            </a:fld>
            <a:endParaRPr lang="en-IN"/>
          </a:p>
        </p:txBody>
      </p:sp>
    </p:spTree>
    <p:extLst>
      <p:ext uri="{BB962C8B-B14F-4D97-AF65-F5344CB8AC3E}">
        <p14:creationId xmlns:p14="http://schemas.microsoft.com/office/powerpoint/2010/main" val="4025197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18284-C792-AAC0-CB20-5AABE82A3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D1066-7AA9-F2DD-F758-C37C472DA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DCB91-9854-BC31-6796-F1458E80BE4C}"/>
              </a:ext>
            </a:extLst>
          </p:cNvPr>
          <p:cNvSpPr>
            <a:spLocks noGrp="1"/>
          </p:cNvSpPr>
          <p:nvPr>
            <p:ph type="body" idx="1"/>
          </p:nvPr>
        </p:nvSpPr>
        <p:spPr/>
        <p:txBody>
          <a:bodyPr/>
          <a:lstStyle/>
          <a:p>
            <a:r>
              <a:rPr lang="en-US" dirty="0"/>
              <a:t>"So why did I build this? The problem is simple - cybersecurity students struggle to keep up with new vulnerabilities because existing tools are too technical and don't focus on learning. My solution was to create a dashboard that:</a:t>
            </a:r>
          </a:p>
          <a:p>
            <a:r>
              <a:rPr lang="en-US" dirty="0"/>
              <a:t>Gets real-time data from official sources</a:t>
            </a:r>
          </a:p>
          <a:p>
            <a:r>
              <a:rPr lang="en-US" dirty="0"/>
              <a:t>Shows information through easy-to-understand charts</a:t>
            </a:r>
          </a:p>
          <a:p>
            <a:r>
              <a:rPr lang="en-US" dirty="0"/>
              <a:t>Explains complex terms in simple language</a:t>
            </a:r>
          </a:p>
          <a:p>
            <a:r>
              <a:rPr lang="en-US" dirty="0"/>
              <a:t>Lets users filter and search through data easily"</a:t>
            </a:r>
          </a:p>
        </p:txBody>
      </p:sp>
      <p:sp>
        <p:nvSpPr>
          <p:cNvPr id="4" name="Slide Number Placeholder 3">
            <a:extLst>
              <a:ext uri="{FF2B5EF4-FFF2-40B4-BE49-F238E27FC236}">
                <a16:creationId xmlns:a16="http://schemas.microsoft.com/office/drawing/2014/main" id="{24EB3A69-DC77-2688-35F4-E4A97D901DA4}"/>
              </a:ext>
            </a:extLst>
          </p:cNvPr>
          <p:cNvSpPr>
            <a:spLocks noGrp="1"/>
          </p:cNvSpPr>
          <p:nvPr>
            <p:ph type="sldNum" sz="quarter" idx="5"/>
          </p:nvPr>
        </p:nvSpPr>
        <p:spPr/>
        <p:txBody>
          <a:bodyPr/>
          <a:lstStyle/>
          <a:p>
            <a:fld id="{8186634B-7F94-42D9-8E4F-C7BFB1399E24}" type="slidenum">
              <a:rPr lang="en-IN" smtClean="0"/>
              <a:t>6</a:t>
            </a:fld>
            <a:endParaRPr lang="en-IN"/>
          </a:p>
        </p:txBody>
      </p:sp>
    </p:spTree>
    <p:extLst>
      <p:ext uri="{BB962C8B-B14F-4D97-AF65-F5344CB8AC3E}">
        <p14:creationId xmlns:p14="http://schemas.microsoft.com/office/powerpoint/2010/main" val="501353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dashboard actually does:</a:t>
            </a:r>
          </a:p>
          <a:p>
            <a:r>
              <a:rPr lang="en-US" dirty="0"/>
              <a:t>It analyzes the different vulnerabilities and shows this in charts</a:t>
            </a:r>
          </a:p>
          <a:p>
            <a:r>
              <a:rPr lang="en-US" dirty="0"/>
              <a:t>It has educational modules that explain what CVE, CWE, and CVSS mean - think of these as different ways to categorize and score security problems</a:t>
            </a:r>
          </a:p>
          <a:p>
            <a:r>
              <a:rPr lang="en-US" dirty="0"/>
              <a:t>The technical side uses Python for the backend, JavaScript for the frontend, and gets data from the National Vulnerability Database"</a:t>
            </a:r>
          </a:p>
        </p:txBody>
      </p:sp>
      <p:sp>
        <p:nvSpPr>
          <p:cNvPr id="4" name="Slide Number Placeholder 3"/>
          <p:cNvSpPr>
            <a:spLocks noGrp="1"/>
          </p:cNvSpPr>
          <p:nvPr>
            <p:ph type="sldNum" sz="quarter" idx="5"/>
          </p:nvPr>
        </p:nvSpPr>
        <p:spPr/>
        <p:txBody>
          <a:bodyPr/>
          <a:lstStyle/>
          <a:p>
            <a:fld id="{8186634B-7F94-42D9-8E4F-C7BFB1399E24}" type="slidenum">
              <a:rPr lang="en-IN" smtClean="0"/>
              <a:t>7</a:t>
            </a:fld>
            <a:endParaRPr lang="en-IN"/>
          </a:p>
        </p:txBody>
      </p:sp>
    </p:spTree>
    <p:extLst>
      <p:ext uri="{BB962C8B-B14F-4D97-AF65-F5344CB8AC3E}">
        <p14:creationId xmlns:p14="http://schemas.microsoft.com/office/powerpoint/2010/main" val="104151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Research Question 1: "What are the most common types of vulnerabilities (CVEs) reported in the last 5 years, and how do they vary by severity?"</a:t>
            </a:r>
            <a:endParaRPr lang="en-US" dirty="0"/>
          </a:p>
          <a:p>
            <a:r>
              <a:rPr lang="en-US" dirty="0"/>
              <a:t>"This question addresses a fundamental gap in cybersecurity education. Students often learn about vulnerabilities in isolation - they might study SQL injection one day and cross-site scripting another - but they don't understand the bigger picture. Think about it this way: if you're learning to be a doctor, you need to know which diseases are most common, not just how to treat rare conditions.</a:t>
            </a:r>
          </a:p>
          <a:p>
            <a:r>
              <a:rPr lang="en-US" dirty="0"/>
              <a:t>The severity component is crucial because not all vulnerabilities are created equal. A critical vulnerability that allows remote code execution is fundamentally different from a low-severity information disclosure. Students need to understand this prioritization - in the real world, security teams can't fix everything at once, so they need to know what to tackle first."</a:t>
            </a:r>
          </a:p>
          <a:p>
            <a:r>
              <a:rPr lang="en-US" b="1" dirty="0"/>
              <a:t>Research Question 2: "How do different vulnerability types compare in terms of frequency and severity distribution?"</a:t>
            </a:r>
            <a:endParaRPr lang="en-US" dirty="0"/>
          </a:p>
          <a:p>
            <a:r>
              <a:rPr lang="en-US" dirty="0"/>
              <a:t>cybersecurity education often treats each vulnerability type as equally important, but that's not how the real world works.</a:t>
            </a:r>
          </a:p>
          <a:p>
            <a:r>
              <a:rPr lang="en-US" dirty="0"/>
              <a:t>Let me give you an example. Cross-site scripting vulnerabilities might be very common but often have medium severity, while buffer overflow vulnerabilities might be less frequent but typically have high severity. This comparison helps students understand resource allocation - should you spend your time learning about the most common vulnerabilities, or the most dangerous ones? The answer isn't obvious without data.</a:t>
            </a:r>
          </a:p>
          <a:p>
            <a:r>
              <a:rPr lang="en-US" dirty="0"/>
              <a:t>This comparative approach also reveals vulnerability ecosystems. We might find that certain types of vulnerabilities cluster together or that some are becoming more or less prevalent over time. For instance, are SQL injection attacks declining as frameworks improve, while API-related vulnerabilities increase? These patterns help students understand the evolving nature of cybersecurity threats."</a:t>
            </a:r>
          </a:p>
          <a:p>
            <a:r>
              <a:rPr lang="en-US" b="1" dirty="0"/>
              <a:t>Research Question 3: "How can an interactive dashboard improve the understanding and prioritization of vulnerabilities for cybersecurity students?"</a:t>
            </a:r>
            <a:endParaRPr lang="en-US" dirty="0"/>
          </a:p>
          <a:p>
            <a:r>
              <a:rPr lang="en-US" dirty="0"/>
              <a:t>This question addresses an opportunity to enhance cybersecurity education. Current methods like textbooks and lectures are excellent for building foundational knowledge, but we can complement them with hands-on experience. Here's what I observed: students learn vulnerability concepts well in coursework, but when they join security teams, they face a new challenge - analyzing large volumes of real-world data to make practical decisions. There's a gap between learning individual concepts and applying analytical thinking to thousands of vulnerabilities. Interactive dashboards can bridge this gap by adding experiential learning to existing education. When students can explore real data - filtering vulnerabilities, watching trends update - they develop practical analytical skills alongside their theoretical knowledge. The prioritization aspect is valuable because it mirrors real-world workflows. Security professionals need to balance technical severity with business constraints and resource limitations. An interactive tool lets students practice this decision-making process."</a:t>
            </a:r>
          </a:p>
          <a:p>
            <a:r>
              <a:rPr lang="en-US" b="1" dirty="0"/>
              <a:t>Research Question 4: "What are the key features of an interactive dashboard that can effectively educate students about CVE trends and patterns?"</a:t>
            </a:r>
            <a:endParaRPr lang="en-US" dirty="0"/>
          </a:p>
          <a:p>
            <a:r>
              <a:rPr lang="en-US" dirty="0"/>
              <a:t>This question focuses on what makes a good educational tool. Just making something interactive doesn't automatically make it helpful for learning. I needed to figure out three main things: First, how do you make it simple enough for beginners but still useful for learning real skills? Second, what kind of charts actually help students understand the data? Pie charts, bar graphs, or line charts - each one shows information differently. Third, how do you help students learn while they explore? The tool needs to explain what things mean, not just show numbers and expect students to figure it out themselves. The goal was building something that actually helps students learn better, not just something that looks cool."</a:t>
            </a:r>
          </a:p>
          <a:p>
            <a:r>
              <a:rPr lang="en-US" dirty="0"/>
              <a:t>And I feel that I achieved my goal.</a:t>
            </a:r>
          </a:p>
          <a:p>
            <a:endParaRPr lang="en-IN" dirty="0"/>
          </a:p>
        </p:txBody>
      </p:sp>
      <p:sp>
        <p:nvSpPr>
          <p:cNvPr id="4" name="Slide Number Placeholder 3"/>
          <p:cNvSpPr>
            <a:spLocks noGrp="1"/>
          </p:cNvSpPr>
          <p:nvPr>
            <p:ph type="sldNum" sz="quarter" idx="5"/>
          </p:nvPr>
        </p:nvSpPr>
        <p:spPr/>
        <p:txBody>
          <a:bodyPr/>
          <a:lstStyle/>
          <a:p>
            <a:fld id="{8186634B-7F94-42D9-8E4F-C7BFB1399E24}" type="slidenum">
              <a:rPr lang="en-IN" smtClean="0"/>
              <a:t>8</a:t>
            </a:fld>
            <a:endParaRPr lang="en-IN"/>
          </a:p>
        </p:txBody>
      </p:sp>
    </p:spTree>
    <p:extLst>
      <p:ext uri="{BB962C8B-B14F-4D97-AF65-F5344CB8AC3E}">
        <p14:creationId xmlns:p14="http://schemas.microsoft.com/office/powerpoint/2010/main" val="926876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tool helps four main groups:</a:t>
            </a:r>
          </a:p>
          <a:p>
            <a:r>
              <a:rPr lang="en-US" b="1" dirty="0"/>
              <a:t>Primary Users:</a:t>
            </a:r>
            <a:endParaRPr lang="en-US" dirty="0"/>
          </a:p>
          <a:p>
            <a:r>
              <a:rPr lang="en-US" b="1" dirty="0"/>
              <a:t>Cybersecurity Students - Learning vulnerability patterns and security concepts</a:t>
            </a:r>
            <a:r>
              <a:rPr lang="en-US" dirty="0"/>
              <a:t> "Instead of just reading that SQL injection is dangerous, students can see that out of 28,000 vulnerabilities reported last year, 6,400 were SQL injection attacks. They learn that buffer overflow affects fewer systems but typically scores 8.5 or higher on severity scales."</a:t>
            </a:r>
          </a:p>
          <a:p>
            <a:r>
              <a:rPr lang="en-US" b="1" dirty="0"/>
              <a:t>Educators - Teaching vulnerability analysis and cybersecurity principles</a:t>
            </a:r>
            <a:r>
              <a:rPr lang="en-US" dirty="0"/>
              <a:t> "Professor can show students that March 2024 had 2,847 new vulnerabilities while December had only 1,200. Students see real patterns instead of generic examples. When explaining CVSS scores, they can compare actual vulnerabilities - one scoring 9.8 versus another scoring 4.2."</a:t>
            </a:r>
          </a:p>
          <a:p>
            <a:r>
              <a:rPr lang="en-US" b="1" dirty="0"/>
              <a:t>Entry-level Security Professionals - Understanding threat prioritization</a:t>
            </a:r>
            <a:r>
              <a:rPr lang="en-US" dirty="0"/>
              <a:t> "New analyst gets 45 vulnerabilities to patch. Dashboard shows that high-severity vulnerabilities (score 8.0 or above) should be fixed first, while medium-severity ones (score 4.0-7.0) can wait. Helps them organize their work by importance instead of guessing."</a:t>
            </a:r>
          </a:p>
          <a:p>
            <a:r>
              <a:rPr lang="en-US" b="1" dirty="0"/>
              <a:t>Secondary Users:</a:t>
            </a:r>
            <a:endParaRPr lang="en-US" dirty="0"/>
          </a:p>
          <a:p>
            <a:r>
              <a:rPr lang="en-US" b="1" dirty="0"/>
              <a:t>Researchers - Analyzing vulnerability trends for academic purposes</a:t>
            </a:r>
            <a:r>
              <a:rPr lang="en-US" dirty="0"/>
              <a:t> Academic researcher studying cybersecurity education can use my dashboard's charts and data instead of spending weeks analyzing raw vulnerability databases. They get organized information for their research papers without the technical data processing work.</a:t>
            </a:r>
          </a:p>
          <a:p>
            <a:endParaRPr lang="en-IN" dirty="0"/>
          </a:p>
        </p:txBody>
      </p:sp>
      <p:sp>
        <p:nvSpPr>
          <p:cNvPr id="4" name="Slide Number Placeholder 3"/>
          <p:cNvSpPr>
            <a:spLocks noGrp="1"/>
          </p:cNvSpPr>
          <p:nvPr>
            <p:ph type="sldNum" sz="quarter" idx="5"/>
          </p:nvPr>
        </p:nvSpPr>
        <p:spPr/>
        <p:txBody>
          <a:bodyPr/>
          <a:lstStyle/>
          <a:p>
            <a:fld id="{8186634B-7F94-42D9-8E4F-C7BFB1399E24}" type="slidenum">
              <a:rPr lang="en-IN" smtClean="0"/>
              <a:t>9</a:t>
            </a:fld>
            <a:endParaRPr lang="en-IN"/>
          </a:p>
        </p:txBody>
      </p:sp>
    </p:spTree>
    <p:extLst>
      <p:ext uri="{BB962C8B-B14F-4D97-AF65-F5344CB8AC3E}">
        <p14:creationId xmlns:p14="http://schemas.microsoft.com/office/powerpoint/2010/main" val="1587482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ABAAA-CD9F-9D39-472C-D744A613C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0B769-6C5C-DB7B-4411-7E4DCF08F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21983-28CD-9753-0E65-644139D33BD3}"/>
              </a:ext>
            </a:extLst>
          </p:cNvPr>
          <p:cNvSpPr>
            <a:spLocks noGrp="1"/>
          </p:cNvSpPr>
          <p:nvPr>
            <p:ph type="body" idx="1"/>
          </p:nvPr>
        </p:nvSpPr>
        <p:spPr/>
        <p:txBody>
          <a:bodyPr/>
          <a:lstStyle/>
          <a:p>
            <a:r>
              <a:rPr lang="en-US" dirty="0"/>
              <a:t>"This tool helps four main groups:</a:t>
            </a:r>
          </a:p>
          <a:p>
            <a:r>
              <a:rPr lang="en-US" b="1" dirty="0"/>
              <a:t>Primary Users:</a:t>
            </a:r>
            <a:endParaRPr lang="en-US" dirty="0"/>
          </a:p>
          <a:p>
            <a:r>
              <a:rPr lang="en-US" b="1" dirty="0"/>
              <a:t>Cybersecurity Students - Learning vulnerability patterns and security concepts</a:t>
            </a:r>
            <a:r>
              <a:rPr lang="en-US" dirty="0"/>
              <a:t> "Instead of just reading that SQL injection is dangerous, students can see that out of 28,000 vulnerabilities reported last year, 6,400 were SQL injection attacks. They learn that buffer overflow affects fewer systems but typically scores 8.5 or higher on severity scales."</a:t>
            </a:r>
          </a:p>
          <a:p>
            <a:r>
              <a:rPr lang="en-US" b="1" dirty="0"/>
              <a:t>Educators - Teaching vulnerability analysis and cybersecurity principles</a:t>
            </a:r>
            <a:r>
              <a:rPr lang="en-US" dirty="0"/>
              <a:t> "Professor can show students that March 2024 had 2,847 new vulnerabilities while December had only 1,200. Students see real patterns instead of generic examples. When explaining CVSS scores, they can compare actual vulnerabilities - one scoring 9.8 versus another scoring 4.2."</a:t>
            </a:r>
          </a:p>
          <a:p>
            <a:r>
              <a:rPr lang="en-US" b="1" dirty="0"/>
              <a:t>Entry-level Security Professionals - Understanding threat prioritization</a:t>
            </a:r>
            <a:r>
              <a:rPr lang="en-US" dirty="0"/>
              <a:t> "New analyst gets 45 vulnerabilities to patch. Dashboard shows that high-severity vulnerabilities (score 8.0 or above) should be fixed first, while medium-severity ones (score 4.0-7.0) can wait. Helps them organize their work by importance instead of guessing."</a:t>
            </a:r>
          </a:p>
          <a:p>
            <a:r>
              <a:rPr lang="en-US" b="1" dirty="0"/>
              <a:t>Secondary Users:</a:t>
            </a:r>
            <a:endParaRPr lang="en-US" dirty="0"/>
          </a:p>
          <a:p>
            <a:r>
              <a:rPr lang="en-US" b="1" dirty="0"/>
              <a:t>Researchers - Analyzing vulnerability trends for academic purposes</a:t>
            </a:r>
            <a:r>
              <a:rPr lang="en-US" dirty="0"/>
              <a:t> Academic researcher studying cybersecurity education can use my dashboard's charts and data instead of spending weeks analyzing raw vulnerability databases. They get organized information for their research papers without the technical data processing work.</a:t>
            </a:r>
          </a:p>
          <a:p>
            <a:endParaRPr lang="en-IN" dirty="0"/>
          </a:p>
        </p:txBody>
      </p:sp>
      <p:sp>
        <p:nvSpPr>
          <p:cNvPr id="4" name="Slide Number Placeholder 3">
            <a:extLst>
              <a:ext uri="{FF2B5EF4-FFF2-40B4-BE49-F238E27FC236}">
                <a16:creationId xmlns:a16="http://schemas.microsoft.com/office/drawing/2014/main" id="{B4C700EE-838A-C6A8-BB03-802D2F2D7BA2}"/>
              </a:ext>
            </a:extLst>
          </p:cNvPr>
          <p:cNvSpPr>
            <a:spLocks noGrp="1"/>
          </p:cNvSpPr>
          <p:nvPr>
            <p:ph type="sldNum" sz="quarter" idx="5"/>
          </p:nvPr>
        </p:nvSpPr>
        <p:spPr/>
        <p:txBody>
          <a:bodyPr/>
          <a:lstStyle/>
          <a:p>
            <a:fld id="{8186634B-7F94-42D9-8E4F-C7BFB1399E24}" type="slidenum">
              <a:rPr lang="en-IN" smtClean="0"/>
              <a:t>10</a:t>
            </a:fld>
            <a:endParaRPr lang="en-IN"/>
          </a:p>
        </p:txBody>
      </p:sp>
    </p:spTree>
    <p:extLst>
      <p:ext uri="{BB962C8B-B14F-4D97-AF65-F5344CB8AC3E}">
        <p14:creationId xmlns:p14="http://schemas.microsoft.com/office/powerpoint/2010/main" val="775485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32918-2823-4190-4602-903379E30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8E35B-BB9F-C46C-5FD4-51968299E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D036B-9878-D35D-1313-75AAD4E25C69}"/>
              </a:ext>
            </a:extLst>
          </p:cNvPr>
          <p:cNvSpPr>
            <a:spLocks noGrp="1"/>
          </p:cNvSpPr>
          <p:nvPr>
            <p:ph type="body" idx="1"/>
          </p:nvPr>
        </p:nvSpPr>
        <p:spPr/>
        <p:txBody>
          <a:bodyPr/>
          <a:lstStyle/>
          <a:p>
            <a:r>
              <a:rPr lang="en-US" dirty="0"/>
              <a:t>"This tool helps four main groups:</a:t>
            </a:r>
          </a:p>
          <a:p>
            <a:r>
              <a:rPr lang="en-US" b="1" dirty="0"/>
              <a:t>Primary Users:</a:t>
            </a:r>
            <a:endParaRPr lang="en-US" dirty="0"/>
          </a:p>
          <a:p>
            <a:r>
              <a:rPr lang="en-US" b="1" dirty="0"/>
              <a:t>Cybersecurity Students - Learning vulnerability patterns and security concepts</a:t>
            </a:r>
            <a:r>
              <a:rPr lang="en-US" dirty="0"/>
              <a:t> "Instead of just reading that SQL injection is dangerous, students can see that out of 28,000 vulnerabilities reported last year, 6,400 were SQL injection attacks. They learn that buffer overflow affects fewer systems but typically scores 8.5 or higher on severity scales."</a:t>
            </a:r>
          </a:p>
          <a:p>
            <a:r>
              <a:rPr lang="en-US" b="1" dirty="0"/>
              <a:t>Educators - Teaching vulnerability analysis and cybersecurity principles</a:t>
            </a:r>
            <a:r>
              <a:rPr lang="en-US" dirty="0"/>
              <a:t> "Professor can show students that March 2024 had 2,847 new vulnerabilities while December had only 1,200. Students see real patterns instead of generic examples. When explaining CVSS scores, they can compare actual vulnerabilities - one scoring 9.8 versus another scoring 4.2."</a:t>
            </a:r>
          </a:p>
          <a:p>
            <a:r>
              <a:rPr lang="en-US" b="1" dirty="0"/>
              <a:t>Entry-level Security Professionals - Understanding threat prioritization</a:t>
            </a:r>
            <a:r>
              <a:rPr lang="en-US" dirty="0"/>
              <a:t> "New analyst gets 45 vulnerabilities to patch. Dashboard shows that high-severity vulnerabilities (score 8.0 or above) should be fixed first, while medium-severity ones (score 4.0-7.0) can wait. Helps them organize their work by importance instead of guessing."</a:t>
            </a:r>
          </a:p>
          <a:p>
            <a:r>
              <a:rPr lang="en-US" b="1" dirty="0"/>
              <a:t>Secondary Users:</a:t>
            </a:r>
            <a:endParaRPr lang="en-US" dirty="0"/>
          </a:p>
          <a:p>
            <a:r>
              <a:rPr lang="en-US" b="1" dirty="0"/>
              <a:t>Researchers - Analyzing vulnerability trends for academic purposes</a:t>
            </a:r>
            <a:r>
              <a:rPr lang="en-US" dirty="0"/>
              <a:t> Academic researcher studying cybersecurity education can use my dashboard's charts and data instead of spending weeks analyzing raw vulnerability databases. They get organized information for their research papers without the technical data processing work.</a:t>
            </a:r>
          </a:p>
          <a:p>
            <a:endParaRPr lang="en-IN" dirty="0"/>
          </a:p>
        </p:txBody>
      </p:sp>
      <p:sp>
        <p:nvSpPr>
          <p:cNvPr id="4" name="Slide Number Placeholder 3">
            <a:extLst>
              <a:ext uri="{FF2B5EF4-FFF2-40B4-BE49-F238E27FC236}">
                <a16:creationId xmlns:a16="http://schemas.microsoft.com/office/drawing/2014/main" id="{3C51A2B2-6379-5E46-D980-3CE9B902E157}"/>
              </a:ext>
            </a:extLst>
          </p:cNvPr>
          <p:cNvSpPr>
            <a:spLocks noGrp="1"/>
          </p:cNvSpPr>
          <p:nvPr>
            <p:ph type="sldNum" sz="quarter" idx="5"/>
          </p:nvPr>
        </p:nvSpPr>
        <p:spPr/>
        <p:txBody>
          <a:bodyPr/>
          <a:lstStyle/>
          <a:p>
            <a:fld id="{8186634B-7F94-42D9-8E4F-C7BFB1399E24}" type="slidenum">
              <a:rPr lang="en-IN" smtClean="0"/>
              <a:t>11</a:t>
            </a:fld>
            <a:endParaRPr lang="en-IN"/>
          </a:p>
        </p:txBody>
      </p:sp>
    </p:spTree>
    <p:extLst>
      <p:ext uri="{BB962C8B-B14F-4D97-AF65-F5344CB8AC3E}">
        <p14:creationId xmlns:p14="http://schemas.microsoft.com/office/powerpoint/2010/main" val="2126466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802787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957645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399C4-83FD-8846-B8FF-C8A5E1CCA776}"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549517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399C4-83FD-8846-B8FF-C8A5E1CCA776}"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55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399C4-83FD-8846-B8FF-C8A5E1CCA776}" type="datetimeFigureOut">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69457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6399C4-83FD-8846-B8FF-C8A5E1CCA776}"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83845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6399C4-83FD-8846-B8FF-C8A5E1CCA776}" type="datetimeFigureOut">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06047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399C4-83FD-8846-B8FF-C8A5E1CCA776}"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2079532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399C4-83FD-8846-B8FF-C8A5E1CCA776}"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39874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511126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35877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6399C4-83FD-8846-B8FF-C8A5E1CCA776}" type="datetimeFigureOut">
              <a:rPr lang="en-US" smtClean="0"/>
              <a:t>10/22/2025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D23E2-BA1B-8049-8B7E-58F2712DF32D}" type="slidenum">
              <a:rPr lang="en-US" smtClean="0"/>
              <a:t>‹#›</a:t>
            </a:fld>
            <a:endParaRPr lang="en-US"/>
          </a:p>
        </p:txBody>
      </p:sp>
    </p:spTree>
    <p:extLst>
      <p:ext uri="{BB962C8B-B14F-4D97-AF65-F5344CB8AC3E}">
        <p14:creationId xmlns:p14="http://schemas.microsoft.com/office/powerpoint/2010/main" val="6019871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hyperlink" Target="https://services.nvd.nist.gov/rest/json/cves/2.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nvd.nist.gov/developers/vulnerabilities" TargetMode="External"/><Relationship Id="rId3" Type="http://schemas.openxmlformats.org/officeDocument/2006/relationships/hyperlink" Target="https://cve.mitre.org/" TargetMode="External"/><Relationship Id="rId7" Type="http://schemas.openxmlformats.org/officeDocument/2006/relationships/hyperlink" Target="https://www.chartjs.org/docs/" TargetMode="External"/><Relationship Id="rId2" Type="http://schemas.openxmlformats.org/officeDocument/2006/relationships/hyperlink" Target="https://nvd.nist.gov/" TargetMode="External"/><Relationship Id="rId1" Type="http://schemas.openxmlformats.org/officeDocument/2006/relationships/slideLayout" Target="../slideLayouts/slideLayout2.xml"/><Relationship Id="rId6" Type="http://schemas.openxmlformats.org/officeDocument/2006/relationships/hyperlink" Target="https://flask.palletsprojects.com/" TargetMode="External"/><Relationship Id="rId11" Type="http://schemas.openxmlformats.org/officeDocument/2006/relationships/hyperlink" Target="https://www.sans.org/top25-software-errors/" TargetMode="External"/><Relationship Id="rId5" Type="http://schemas.openxmlformats.org/officeDocument/2006/relationships/hyperlink" Target="https://www.first.org/cvss/" TargetMode="External"/><Relationship Id="rId10" Type="http://schemas.openxmlformats.org/officeDocument/2006/relationships/hyperlink" Target="https://owasp.org/www-project-top-ten/" TargetMode="External"/><Relationship Id="rId4" Type="http://schemas.openxmlformats.org/officeDocument/2006/relationships/hyperlink" Target="https://cwe.mitre.org/" TargetMode="External"/><Relationship Id="rId9" Type="http://schemas.openxmlformats.org/officeDocument/2006/relationships/hyperlink" Target="https://render.com/doc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vulnedu.onrender.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524000" y="1952255"/>
            <a:ext cx="9144000" cy="2387600"/>
          </a:xfrm>
        </p:spPr>
        <p:txBody>
          <a:bodyPr>
            <a:normAutofit fontScale="90000"/>
          </a:bodyPr>
          <a:lstStyle/>
          <a:p>
            <a:r>
              <a:rPr lang="en-US" dirty="0"/>
              <a:t>Educational CVE Analysis Tool </a:t>
            </a:r>
            <a:br>
              <a:rPr lang="en-US" dirty="0"/>
            </a:br>
            <a:r>
              <a:rPr lang="en-US" dirty="0"/>
              <a:t>(VulnEdu Dashboard)</a:t>
            </a:r>
          </a:p>
        </p:txBody>
      </p:sp>
      <p:sp>
        <p:nvSpPr>
          <p:cNvPr id="2" name="Title 2">
            <a:extLst>
              <a:ext uri="{FF2B5EF4-FFF2-40B4-BE49-F238E27FC236}">
                <a16:creationId xmlns:a16="http://schemas.microsoft.com/office/drawing/2014/main" id="{D4651FCA-8B13-D4A9-D45F-34057B04D649}"/>
              </a:ext>
            </a:extLst>
          </p:cNvPr>
          <p:cNvSpPr txBox="1">
            <a:spLocks/>
          </p:cNvSpPr>
          <p:nvPr/>
        </p:nvSpPr>
        <p:spPr>
          <a:xfrm>
            <a:off x="3586263" y="4260714"/>
            <a:ext cx="8466307" cy="8705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t>Deepti Veldanda</a:t>
            </a:r>
          </a:p>
        </p:txBody>
      </p:sp>
    </p:spTree>
    <p:extLst>
      <p:ext uri="{BB962C8B-B14F-4D97-AF65-F5344CB8AC3E}">
        <p14:creationId xmlns:p14="http://schemas.microsoft.com/office/powerpoint/2010/main" val="1595336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19364"/>
            <a:ext cx="10515600" cy="4351338"/>
          </a:xfrm>
        </p:spPr>
        <p:txBody>
          <a:bodyPr>
            <a:noAutofit/>
          </a:bodyPr>
          <a:lstStyle/>
          <a:p>
            <a:pPr marL="0" indent="0">
              <a:lnSpc>
                <a:spcPct val="150000"/>
              </a:lnSpc>
              <a:buNone/>
            </a:pPr>
            <a:r>
              <a:rPr lang="en-US" sz="1800" b="1" dirty="0"/>
              <a:t>VulnEdu Dashboard</a:t>
            </a:r>
            <a:r>
              <a:rPr lang="en-US" sz="1800" dirty="0"/>
              <a:t> is an interactive web-based dashboard designed to help cybersecurity students and educators understand and analyze Common Vulnerabilities and Exposures (CVE) data.</a:t>
            </a:r>
          </a:p>
          <a:p>
            <a:pPr marL="0" indent="0">
              <a:lnSpc>
                <a:spcPct val="150000"/>
              </a:lnSpc>
              <a:buNone/>
            </a:pPr>
            <a:r>
              <a:rPr lang="en-US" sz="1800" b="1" dirty="0"/>
              <a:t>Project Overview:</a:t>
            </a:r>
          </a:p>
          <a:p>
            <a:pPr marL="808038" indent="-273050">
              <a:lnSpc>
                <a:spcPct val="150000"/>
              </a:lnSpc>
              <a:buFont typeface="Wingdings" panose="05000000000000000000" pitchFamily="2" charset="2"/>
              <a:buChar char="Ø"/>
            </a:pPr>
            <a:r>
              <a:rPr lang="en-US" sz="1800" dirty="0"/>
              <a:t>Addresses educational gap by transforming complex CVE data into accessible learning resources</a:t>
            </a:r>
          </a:p>
          <a:p>
            <a:pPr marL="808038" indent="-273050">
              <a:lnSpc>
                <a:spcPct val="150000"/>
              </a:lnSpc>
              <a:buFont typeface="Wingdings" panose="05000000000000000000" pitchFamily="2" charset="2"/>
              <a:buChar char="Ø"/>
            </a:pPr>
            <a:r>
              <a:rPr lang="en-US" sz="1800" dirty="0"/>
              <a:t>Combines real-time NVD data with historical trend analysis for comprehensive coverage</a:t>
            </a:r>
          </a:p>
        </p:txBody>
      </p:sp>
      <p:sp>
        <p:nvSpPr>
          <p:cNvPr id="7" name="Title 1">
            <a:extLst>
              <a:ext uri="{FF2B5EF4-FFF2-40B4-BE49-F238E27FC236}">
                <a16:creationId xmlns:a16="http://schemas.microsoft.com/office/drawing/2014/main" id="{63585A44-BF99-A316-CBF6-F677DF221911}"/>
              </a:ext>
            </a:extLst>
          </p:cNvPr>
          <p:cNvSpPr>
            <a:spLocks noGrp="1"/>
          </p:cNvSpPr>
          <p:nvPr>
            <p:ph type="title"/>
          </p:nvPr>
        </p:nvSpPr>
        <p:spPr>
          <a:xfrm>
            <a:off x="838200" y="365125"/>
            <a:ext cx="10515600" cy="1325563"/>
          </a:xfrm>
        </p:spPr>
        <p:txBody>
          <a:bodyPr/>
          <a:lstStyle/>
          <a:p>
            <a:r>
              <a:rPr lang="en-US" dirty="0"/>
              <a:t>Abstract</a:t>
            </a:r>
          </a:p>
        </p:txBody>
      </p:sp>
    </p:spTree>
    <p:extLst>
      <p:ext uri="{BB962C8B-B14F-4D97-AF65-F5344CB8AC3E}">
        <p14:creationId xmlns:p14="http://schemas.microsoft.com/office/powerpoint/2010/main" val="37615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1F9F6-E35B-6F9B-51F3-6841A5BED10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A5468CB-CF4E-059A-6D2F-E5B2DC4CCCDF}"/>
              </a:ext>
            </a:extLst>
          </p:cNvPr>
          <p:cNvPicPr>
            <a:picLocks noChangeAspect="1"/>
          </p:cNvPicPr>
          <p:nvPr/>
        </p:nvPicPr>
        <p:blipFill>
          <a:blip r:embed="rId3"/>
          <a:stretch>
            <a:fillRect/>
          </a:stretch>
        </p:blipFill>
        <p:spPr>
          <a:xfrm>
            <a:off x="156259" y="544749"/>
            <a:ext cx="12035741" cy="4933819"/>
          </a:xfrm>
          <a:prstGeom prst="rect">
            <a:avLst/>
          </a:prstGeom>
        </p:spPr>
      </p:pic>
      <p:sp>
        <p:nvSpPr>
          <p:cNvPr id="8" name="Content Placeholder 2">
            <a:extLst>
              <a:ext uri="{FF2B5EF4-FFF2-40B4-BE49-F238E27FC236}">
                <a16:creationId xmlns:a16="http://schemas.microsoft.com/office/drawing/2014/main" id="{F88413CF-080D-2295-E13B-50221BC1B986}"/>
              </a:ext>
            </a:extLst>
          </p:cNvPr>
          <p:cNvSpPr>
            <a:spLocks noGrp="1"/>
          </p:cNvSpPr>
          <p:nvPr>
            <p:ph idx="1"/>
          </p:nvPr>
        </p:nvSpPr>
        <p:spPr>
          <a:xfrm>
            <a:off x="1309688" y="5252420"/>
            <a:ext cx="6434137" cy="538024"/>
          </a:xfrm>
        </p:spPr>
        <p:txBody>
          <a:bodyPr>
            <a:noAutofit/>
          </a:bodyPr>
          <a:lstStyle/>
          <a:p>
            <a:pPr marL="0" indent="0">
              <a:lnSpc>
                <a:spcPct val="150000"/>
              </a:lnSpc>
              <a:buNone/>
            </a:pPr>
            <a:r>
              <a:rPr lang="en-US" sz="1800" b="1" dirty="0"/>
              <a:t>Source : </a:t>
            </a:r>
            <a:r>
              <a:rPr lang="en-US" sz="1800" dirty="0"/>
              <a:t>https://nvd.nist.gov/vuln/detail/CVE-2021-44228 </a:t>
            </a:r>
          </a:p>
        </p:txBody>
      </p:sp>
    </p:spTree>
    <p:extLst>
      <p:ext uri="{BB962C8B-B14F-4D97-AF65-F5344CB8AC3E}">
        <p14:creationId xmlns:p14="http://schemas.microsoft.com/office/powerpoint/2010/main" val="873357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407E0-1C3D-E56F-B1F5-CA7299FE6552}"/>
              </a:ext>
            </a:extLst>
          </p:cNvPr>
          <p:cNvSpPr>
            <a:spLocks noGrp="1"/>
          </p:cNvSpPr>
          <p:nvPr>
            <p:ph type="title"/>
          </p:nvPr>
        </p:nvSpPr>
        <p:spPr/>
        <p:txBody>
          <a:bodyPr/>
          <a:lstStyle/>
          <a:p>
            <a:r>
              <a:rPr lang="en-IN" sz="3200" dirty="0"/>
              <a:t>The Problem</a:t>
            </a:r>
            <a:endParaRPr lang="en-US" sz="3200" dirty="0"/>
          </a:p>
        </p:txBody>
      </p:sp>
      <p:pic>
        <p:nvPicPr>
          <p:cNvPr id="7" name="Picture 6">
            <a:extLst>
              <a:ext uri="{FF2B5EF4-FFF2-40B4-BE49-F238E27FC236}">
                <a16:creationId xmlns:a16="http://schemas.microsoft.com/office/drawing/2014/main" id="{6AF2F4BB-EF49-2C4B-314B-ABF0B7AF1779}"/>
              </a:ext>
            </a:extLst>
          </p:cNvPr>
          <p:cNvPicPr>
            <a:picLocks noChangeAspect="1"/>
          </p:cNvPicPr>
          <p:nvPr/>
        </p:nvPicPr>
        <p:blipFill>
          <a:blip r:embed="rId3"/>
          <a:stretch>
            <a:fillRect/>
          </a:stretch>
        </p:blipFill>
        <p:spPr>
          <a:xfrm>
            <a:off x="1284051" y="1546236"/>
            <a:ext cx="2902972" cy="1986244"/>
          </a:xfrm>
          <a:prstGeom prst="rect">
            <a:avLst/>
          </a:prstGeom>
        </p:spPr>
      </p:pic>
      <p:pic>
        <p:nvPicPr>
          <p:cNvPr id="9" name="Picture 8">
            <a:extLst>
              <a:ext uri="{FF2B5EF4-FFF2-40B4-BE49-F238E27FC236}">
                <a16:creationId xmlns:a16="http://schemas.microsoft.com/office/drawing/2014/main" id="{1C3178E2-B2C5-46AF-1474-D78984BC330F}"/>
              </a:ext>
            </a:extLst>
          </p:cNvPr>
          <p:cNvPicPr>
            <a:picLocks noChangeAspect="1"/>
          </p:cNvPicPr>
          <p:nvPr/>
        </p:nvPicPr>
        <p:blipFill>
          <a:blip r:embed="rId4"/>
          <a:stretch>
            <a:fillRect/>
          </a:stretch>
        </p:blipFill>
        <p:spPr>
          <a:xfrm>
            <a:off x="4729577" y="1546236"/>
            <a:ext cx="2902971" cy="1986244"/>
          </a:xfrm>
          <a:prstGeom prst="rect">
            <a:avLst/>
          </a:prstGeom>
        </p:spPr>
      </p:pic>
      <p:pic>
        <p:nvPicPr>
          <p:cNvPr id="11" name="Picture 10">
            <a:extLst>
              <a:ext uri="{FF2B5EF4-FFF2-40B4-BE49-F238E27FC236}">
                <a16:creationId xmlns:a16="http://schemas.microsoft.com/office/drawing/2014/main" id="{4C7F5A17-14A1-737A-92E6-D8C8D5BE2E7C}"/>
              </a:ext>
            </a:extLst>
          </p:cNvPr>
          <p:cNvPicPr>
            <a:picLocks noChangeAspect="1"/>
          </p:cNvPicPr>
          <p:nvPr/>
        </p:nvPicPr>
        <p:blipFill>
          <a:blip r:embed="rId5"/>
          <a:stretch>
            <a:fillRect/>
          </a:stretch>
        </p:blipFill>
        <p:spPr>
          <a:xfrm>
            <a:off x="8175103" y="1499400"/>
            <a:ext cx="2971424" cy="2033080"/>
          </a:xfrm>
          <a:prstGeom prst="rect">
            <a:avLst/>
          </a:prstGeom>
        </p:spPr>
      </p:pic>
      <p:sp>
        <p:nvSpPr>
          <p:cNvPr id="13" name="TextBox 12">
            <a:extLst>
              <a:ext uri="{FF2B5EF4-FFF2-40B4-BE49-F238E27FC236}">
                <a16:creationId xmlns:a16="http://schemas.microsoft.com/office/drawing/2014/main" id="{98947C07-8BE9-8CF1-5D5F-9A2F056336A0}"/>
              </a:ext>
            </a:extLst>
          </p:cNvPr>
          <p:cNvSpPr txBox="1"/>
          <p:nvPr/>
        </p:nvSpPr>
        <p:spPr>
          <a:xfrm>
            <a:off x="1284052" y="3813243"/>
            <a:ext cx="2902972" cy="1785104"/>
          </a:xfrm>
          <a:prstGeom prst="rect">
            <a:avLst/>
          </a:prstGeom>
          <a:noFill/>
        </p:spPr>
        <p:txBody>
          <a:bodyPr wrap="square" rtlCol="0">
            <a:spAutoFit/>
          </a:bodyPr>
          <a:lstStyle/>
          <a:p>
            <a:r>
              <a:rPr lang="en-US" b="1" dirty="0"/>
              <a:t>Cybersecurity education is complex</a:t>
            </a:r>
          </a:p>
          <a:p>
            <a:endParaRPr lang="en-US" sz="1000" b="1" dirty="0"/>
          </a:p>
          <a:p>
            <a:r>
              <a:rPr lang="en-US" sz="1600" dirty="0"/>
              <a:t>Students face steep learning curves when approaching cybersecurity concepts and principles.</a:t>
            </a:r>
          </a:p>
        </p:txBody>
      </p:sp>
      <p:sp>
        <p:nvSpPr>
          <p:cNvPr id="14" name="TextBox 13">
            <a:extLst>
              <a:ext uri="{FF2B5EF4-FFF2-40B4-BE49-F238E27FC236}">
                <a16:creationId xmlns:a16="http://schemas.microsoft.com/office/drawing/2014/main" id="{562326E6-5288-8233-60E3-5EC9714C4B21}"/>
              </a:ext>
            </a:extLst>
          </p:cNvPr>
          <p:cNvSpPr txBox="1"/>
          <p:nvPr/>
        </p:nvSpPr>
        <p:spPr>
          <a:xfrm>
            <a:off x="4729577" y="3813243"/>
            <a:ext cx="2902972" cy="1538883"/>
          </a:xfrm>
          <a:prstGeom prst="rect">
            <a:avLst/>
          </a:prstGeom>
          <a:noFill/>
        </p:spPr>
        <p:txBody>
          <a:bodyPr wrap="square" rtlCol="0">
            <a:spAutoFit/>
          </a:bodyPr>
          <a:lstStyle/>
          <a:p>
            <a:r>
              <a:rPr lang="en-US" b="1" dirty="0"/>
              <a:t>Struggling with vulnerability concepts</a:t>
            </a:r>
          </a:p>
          <a:p>
            <a:endParaRPr lang="en-US" sz="1000" b="1" dirty="0"/>
          </a:p>
          <a:p>
            <a:r>
              <a:rPr lang="en-US" sz="1600" dirty="0"/>
              <a:t>Abstract technical ideas are difficult to grasp without practical, visual context.</a:t>
            </a:r>
          </a:p>
        </p:txBody>
      </p:sp>
      <p:sp>
        <p:nvSpPr>
          <p:cNvPr id="15" name="TextBox 14">
            <a:extLst>
              <a:ext uri="{FF2B5EF4-FFF2-40B4-BE49-F238E27FC236}">
                <a16:creationId xmlns:a16="http://schemas.microsoft.com/office/drawing/2014/main" id="{1F38C08E-C7EF-F7F7-B0ED-022B55F266C9}"/>
              </a:ext>
            </a:extLst>
          </p:cNvPr>
          <p:cNvSpPr txBox="1"/>
          <p:nvPr/>
        </p:nvSpPr>
        <p:spPr>
          <a:xfrm>
            <a:off x="8175103" y="3813243"/>
            <a:ext cx="2902972" cy="1538883"/>
          </a:xfrm>
          <a:prstGeom prst="rect">
            <a:avLst/>
          </a:prstGeom>
          <a:noFill/>
        </p:spPr>
        <p:txBody>
          <a:bodyPr wrap="square" rtlCol="0">
            <a:spAutoFit/>
          </a:bodyPr>
          <a:lstStyle/>
          <a:p>
            <a:r>
              <a:rPr lang="en-US" b="1" dirty="0"/>
              <a:t>Existing tools are too technical</a:t>
            </a:r>
          </a:p>
          <a:p>
            <a:endParaRPr lang="en-US" sz="1000" b="1" dirty="0"/>
          </a:p>
          <a:p>
            <a:r>
              <a:rPr lang="en-US" sz="1600" dirty="0"/>
              <a:t>Current solutions lack accessibility and educational focus for learners.</a:t>
            </a:r>
          </a:p>
        </p:txBody>
      </p:sp>
    </p:spTree>
    <p:extLst>
      <p:ext uri="{BB962C8B-B14F-4D97-AF65-F5344CB8AC3E}">
        <p14:creationId xmlns:p14="http://schemas.microsoft.com/office/powerpoint/2010/main" val="179974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58C74-91A4-0E11-B0F4-674A033A3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884E0-F3FC-3284-97BB-268936743DFF}"/>
              </a:ext>
            </a:extLst>
          </p:cNvPr>
          <p:cNvSpPr>
            <a:spLocks noGrp="1"/>
          </p:cNvSpPr>
          <p:nvPr>
            <p:ph type="title"/>
          </p:nvPr>
        </p:nvSpPr>
        <p:spPr>
          <a:xfrm>
            <a:off x="569735" y="365125"/>
            <a:ext cx="10515600" cy="1325563"/>
          </a:xfrm>
        </p:spPr>
        <p:txBody>
          <a:bodyPr/>
          <a:lstStyle/>
          <a:p>
            <a:r>
              <a:rPr lang="en-IN" sz="3200" dirty="0"/>
              <a:t>The Solution</a:t>
            </a:r>
            <a:endParaRPr lang="en-US" sz="3200" dirty="0"/>
          </a:p>
        </p:txBody>
      </p:sp>
      <p:grpSp>
        <p:nvGrpSpPr>
          <p:cNvPr id="19" name="Group 18">
            <a:extLst>
              <a:ext uri="{FF2B5EF4-FFF2-40B4-BE49-F238E27FC236}">
                <a16:creationId xmlns:a16="http://schemas.microsoft.com/office/drawing/2014/main" id="{D0DFB4CE-50FA-4D98-35AC-CCABBE976A8D}"/>
              </a:ext>
            </a:extLst>
          </p:cNvPr>
          <p:cNvGrpSpPr/>
          <p:nvPr/>
        </p:nvGrpSpPr>
        <p:grpSpPr>
          <a:xfrm>
            <a:off x="1311238" y="1454838"/>
            <a:ext cx="2518092" cy="4015212"/>
            <a:chOff x="678940" y="1454841"/>
            <a:chExt cx="2518092" cy="4015212"/>
          </a:xfrm>
        </p:grpSpPr>
        <p:pic>
          <p:nvPicPr>
            <p:cNvPr id="8" name="Picture 7">
              <a:extLst>
                <a:ext uri="{FF2B5EF4-FFF2-40B4-BE49-F238E27FC236}">
                  <a16:creationId xmlns:a16="http://schemas.microsoft.com/office/drawing/2014/main" id="{B66C6A5C-665E-082F-8701-65993091FEA8}"/>
                </a:ext>
              </a:extLst>
            </p:cNvPr>
            <p:cNvPicPr>
              <a:picLocks noChangeAspect="1"/>
            </p:cNvPicPr>
            <p:nvPr/>
          </p:nvPicPr>
          <p:blipFill>
            <a:blip r:embed="rId3"/>
            <a:stretch>
              <a:fillRect/>
            </a:stretch>
          </p:blipFill>
          <p:spPr>
            <a:xfrm>
              <a:off x="678940" y="1454841"/>
              <a:ext cx="2518092" cy="1722905"/>
            </a:xfrm>
            <a:prstGeom prst="rect">
              <a:avLst/>
            </a:prstGeom>
          </p:spPr>
        </p:pic>
        <p:sp>
          <p:nvSpPr>
            <p:cNvPr id="13" name="TextBox 12">
              <a:extLst>
                <a:ext uri="{FF2B5EF4-FFF2-40B4-BE49-F238E27FC236}">
                  <a16:creationId xmlns:a16="http://schemas.microsoft.com/office/drawing/2014/main" id="{CA72FF09-3C5A-B044-6F49-5AD39A0FA8B3}"/>
                </a:ext>
              </a:extLst>
            </p:cNvPr>
            <p:cNvSpPr txBox="1"/>
            <p:nvPr/>
          </p:nvSpPr>
          <p:spPr>
            <a:xfrm>
              <a:off x="678940" y="3438728"/>
              <a:ext cx="2518092" cy="2031325"/>
            </a:xfrm>
            <a:prstGeom prst="rect">
              <a:avLst/>
            </a:prstGeom>
            <a:noFill/>
          </p:spPr>
          <p:txBody>
            <a:bodyPr wrap="square" rtlCol="0">
              <a:spAutoFit/>
            </a:bodyPr>
            <a:lstStyle/>
            <a:p>
              <a:pPr>
                <a:buNone/>
              </a:pPr>
              <a:r>
                <a:rPr lang="en-US" b="1" dirty="0"/>
                <a:t>Real-time Vulnerability Data</a:t>
              </a:r>
            </a:p>
            <a:p>
              <a:pPr>
                <a:buNone/>
              </a:pPr>
              <a:endParaRPr lang="en-US" sz="1000" b="1" dirty="0"/>
            </a:p>
            <a:p>
              <a:pPr>
                <a:buNone/>
              </a:pPr>
              <a:r>
                <a:rPr lang="en-US" sz="1600" dirty="0"/>
                <a:t>Access the latest security information as it becomes available, keeping you informed of emerging threats immediately.</a:t>
              </a:r>
            </a:p>
          </p:txBody>
        </p:sp>
      </p:grpSp>
      <p:grpSp>
        <p:nvGrpSpPr>
          <p:cNvPr id="17" name="Group 16">
            <a:extLst>
              <a:ext uri="{FF2B5EF4-FFF2-40B4-BE49-F238E27FC236}">
                <a16:creationId xmlns:a16="http://schemas.microsoft.com/office/drawing/2014/main" id="{5120135B-764C-3AC3-F138-9EB6B6250629}"/>
              </a:ext>
            </a:extLst>
          </p:cNvPr>
          <p:cNvGrpSpPr/>
          <p:nvPr/>
        </p:nvGrpSpPr>
        <p:grpSpPr>
          <a:xfrm>
            <a:off x="4795298" y="1426257"/>
            <a:ext cx="2518092" cy="4005485"/>
            <a:chOff x="3521703" y="1454840"/>
            <a:chExt cx="2518092" cy="4005485"/>
          </a:xfrm>
        </p:grpSpPr>
        <p:pic>
          <p:nvPicPr>
            <p:cNvPr id="10" name="Picture 9">
              <a:extLst>
                <a:ext uri="{FF2B5EF4-FFF2-40B4-BE49-F238E27FC236}">
                  <a16:creationId xmlns:a16="http://schemas.microsoft.com/office/drawing/2014/main" id="{8C915ADA-7E26-173F-2223-23006F2AD7D7}"/>
                </a:ext>
              </a:extLst>
            </p:cNvPr>
            <p:cNvPicPr>
              <a:picLocks noChangeAspect="1"/>
            </p:cNvPicPr>
            <p:nvPr/>
          </p:nvPicPr>
          <p:blipFill>
            <a:blip r:embed="rId4"/>
            <a:stretch>
              <a:fillRect/>
            </a:stretch>
          </p:blipFill>
          <p:spPr>
            <a:xfrm>
              <a:off x="3521703" y="1454840"/>
              <a:ext cx="2518092" cy="1722905"/>
            </a:xfrm>
            <a:prstGeom prst="rect">
              <a:avLst/>
            </a:prstGeom>
          </p:spPr>
        </p:pic>
        <p:sp>
          <p:nvSpPr>
            <p:cNvPr id="14" name="TextBox 13">
              <a:extLst>
                <a:ext uri="{FF2B5EF4-FFF2-40B4-BE49-F238E27FC236}">
                  <a16:creationId xmlns:a16="http://schemas.microsoft.com/office/drawing/2014/main" id="{D85D40E2-FE56-6721-F228-8FAA52ADA6D6}"/>
                </a:ext>
              </a:extLst>
            </p:cNvPr>
            <p:cNvSpPr txBox="1"/>
            <p:nvPr/>
          </p:nvSpPr>
          <p:spPr>
            <a:xfrm>
              <a:off x="3521703" y="3429000"/>
              <a:ext cx="2518092" cy="2031325"/>
            </a:xfrm>
            <a:prstGeom prst="rect">
              <a:avLst/>
            </a:prstGeom>
            <a:noFill/>
          </p:spPr>
          <p:txBody>
            <a:bodyPr wrap="square" rtlCol="0">
              <a:spAutoFit/>
            </a:bodyPr>
            <a:lstStyle/>
            <a:p>
              <a:pPr>
                <a:buNone/>
              </a:pPr>
              <a:r>
                <a:rPr lang="en-US" b="1" dirty="0"/>
                <a:t>Interactive Visualizations</a:t>
              </a:r>
            </a:p>
            <a:p>
              <a:pPr>
                <a:buNone/>
              </a:pPr>
              <a:endParaRPr lang="en-US" sz="1000" b="1" dirty="0"/>
            </a:p>
            <a:p>
              <a:pPr>
                <a:buNone/>
              </a:pPr>
              <a:r>
                <a:rPr lang="en-US" sz="1600" dirty="0"/>
                <a:t>Engage with dynamic charts and graphs that make complex vulnerability data easy to understand and analyze visually.</a:t>
              </a:r>
            </a:p>
          </p:txBody>
        </p:sp>
      </p:grpSp>
      <p:grpSp>
        <p:nvGrpSpPr>
          <p:cNvPr id="18" name="Group 17">
            <a:extLst>
              <a:ext uri="{FF2B5EF4-FFF2-40B4-BE49-F238E27FC236}">
                <a16:creationId xmlns:a16="http://schemas.microsoft.com/office/drawing/2014/main" id="{9909F4D4-0352-082C-F78D-7E32183EFB48}"/>
              </a:ext>
            </a:extLst>
          </p:cNvPr>
          <p:cNvGrpSpPr/>
          <p:nvPr/>
        </p:nvGrpSpPr>
        <p:grpSpPr>
          <a:xfrm>
            <a:off x="8279358" y="1435983"/>
            <a:ext cx="2518092" cy="3995759"/>
            <a:chOff x="9207229" y="1454838"/>
            <a:chExt cx="2518092" cy="3995759"/>
          </a:xfrm>
        </p:grpSpPr>
        <p:pic>
          <p:nvPicPr>
            <p:cNvPr id="6" name="Picture 5">
              <a:extLst>
                <a:ext uri="{FF2B5EF4-FFF2-40B4-BE49-F238E27FC236}">
                  <a16:creationId xmlns:a16="http://schemas.microsoft.com/office/drawing/2014/main" id="{40B84EDE-9BF7-4054-67F6-06806C1D76EA}"/>
                </a:ext>
              </a:extLst>
            </p:cNvPr>
            <p:cNvPicPr>
              <a:picLocks noChangeAspect="1"/>
            </p:cNvPicPr>
            <p:nvPr/>
          </p:nvPicPr>
          <p:blipFill>
            <a:blip r:embed="rId5"/>
            <a:stretch>
              <a:fillRect/>
            </a:stretch>
          </p:blipFill>
          <p:spPr>
            <a:xfrm>
              <a:off x="9207229" y="1454838"/>
              <a:ext cx="2518092" cy="1722905"/>
            </a:xfrm>
            <a:prstGeom prst="rect">
              <a:avLst/>
            </a:prstGeom>
          </p:spPr>
        </p:pic>
        <p:sp>
          <p:nvSpPr>
            <p:cNvPr id="16" name="TextBox 15">
              <a:extLst>
                <a:ext uri="{FF2B5EF4-FFF2-40B4-BE49-F238E27FC236}">
                  <a16:creationId xmlns:a16="http://schemas.microsoft.com/office/drawing/2014/main" id="{6B18584D-FC60-4C98-A37E-0AF073D76DC0}"/>
                </a:ext>
              </a:extLst>
            </p:cNvPr>
            <p:cNvSpPr txBox="1"/>
            <p:nvPr/>
          </p:nvSpPr>
          <p:spPr>
            <a:xfrm>
              <a:off x="9207229" y="3419272"/>
              <a:ext cx="2518092" cy="2031325"/>
            </a:xfrm>
            <a:prstGeom prst="rect">
              <a:avLst/>
            </a:prstGeom>
            <a:noFill/>
          </p:spPr>
          <p:txBody>
            <a:bodyPr wrap="square" rtlCol="0">
              <a:spAutoFit/>
            </a:bodyPr>
            <a:lstStyle/>
            <a:p>
              <a:pPr>
                <a:buNone/>
              </a:pPr>
              <a:r>
                <a:rPr lang="en-US" b="1" dirty="0"/>
                <a:t>Easy-to-Use Search Functions</a:t>
              </a:r>
            </a:p>
            <a:p>
              <a:pPr>
                <a:buNone/>
              </a:pPr>
              <a:endParaRPr lang="en-US" sz="1000" b="1" dirty="0"/>
            </a:p>
            <a:p>
              <a:pPr>
                <a:buNone/>
              </a:pPr>
              <a:r>
                <a:rPr lang="en-US" sz="1600" dirty="0"/>
                <a:t>Quickly find specific vulnerabilities and related information with intuitive search capabilities, saving time and effort.</a:t>
              </a:r>
            </a:p>
          </p:txBody>
        </p:sp>
      </p:grpSp>
    </p:spTree>
    <p:extLst>
      <p:ext uri="{BB962C8B-B14F-4D97-AF65-F5344CB8AC3E}">
        <p14:creationId xmlns:p14="http://schemas.microsoft.com/office/powerpoint/2010/main" val="319758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B58F9-1CCD-85B4-5408-F51B0C4A1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EFE16-A3E4-B1B6-6E78-115AD7B42FC3}"/>
              </a:ext>
            </a:extLst>
          </p:cNvPr>
          <p:cNvSpPr>
            <a:spLocks noGrp="1"/>
          </p:cNvSpPr>
          <p:nvPr>
            <p:ph type="title"/>
          </p:nvPr>
        </p:nvSpPr>
        <p:spPr>
          <a:xfrm>
            <a:off x="569735" y="365125"/>
            <a:ext cx="10515600" cy="1325563"/>
          </a:xfrm>
        </p:spPr>
        <p:txBody>
          <a:bodyPr/>
          <a:lstStyle/>
          <a:p>
            <a:r>
              <a:rPr lang="en-IN" sz="3200" dirty="0"/>
              <a:t>The Solution</a:t>
            </a:r>
            <a:endParaRPr lang="en-US" sz="3200" dirty="0"/>
          </a:p>
        </p:txBody>
      </p:sp>
      <p:pic>
        <p:nvPicPr>
          <p:cNvPr id="12" name="Picture 11">
            <a:extLst>
              <a:ext uri="{FF2B5EF4-FFF2-40B4-BE49-F238E27FC236}">
                <a16:creationId xmlns:a16="http://schemas.microsoft.com/office/drawing/2014/main" id="{50245378-3D31-5A24-0A19-5FA478823E93}"/>
              </a:ext>
            </a:extLst>
          </p:cNvPr>
          <p:cNvPicPr>
            <a:picLocks noChangeAspect="1"/>
          </p:cNvPicPr>
          <p:nvPr/>
        </p:nvPicPr>
        <p:blipFill>
          <a:blip r:embed="rId3"/>
          <a:stretch>
            <a:fillRect/>
          </a:stretch>
        </p:blipFill>
        <p:spPr>
          <a:xfrm>
            <a:off x="1724372" y="1440801"/>
            <a:ext cx="2518092" cy="1722905"/>
          </a:xfrm>
          <a:prstGeom prst="rect">
            <a:avLst/>
          </a:prstGeom>
        </p:spPr>
      </p:pic>
      <p:sp>
        <p:nvSpPr>
          <p:cNvPr id="15" name="TextBox 14">
            <a:extLst>
              <a:ext uri="{FF2B5EF4-FFF2-40B4-BE49-F238E27FC236}">
                <a16:creationId xmlns:a16="http://schemas.microsoft.com/office/drawing/2014/main" id="{807912F3-2161-E927-5E60-78DC287DD7F3}"/>
              </a:ext>
            </a:extLst>
          </p:cNvPr>
          <p:cNvSpPr txBox="1"/>
          <p:nvPr/>
        </p:nvSpPr>
        <p:spPr>
          <a:xfrm>
            <a:off x="1724372" y="3414962"/>
            <a:ext cx="2518092" cy="2277547"/>
          </a:xfrm>
          <a:prstGeom prst="rect">
            <a:avLst/>
          </a:prstGeom>
          <a:noFill/>
        </p:spPr>
        <p:txBody>
          <a:bodyPr wrap="square" rtlCol="0">
            <a:spAutoFit/>
          </a:bodyPr>
          <a:lstStyle/>
          <a:p>
            <a:pPr>
              <a:buNone/>
            </a:pPr>
            <a:r>
              <a:rPr lang="en-US" b="1" dirty="0"/>
              <a:t>Educational Learning Modules</a:t>
            </a:r>
          </a:p>
          <a:p>
            <a:pPr>
              <a:buNone/>
            </a:pPr>
            <a:endParaRPr lang="en-US" sz="1000" b="1" dirty="0"/>
          </a:p>
          <a:p>
            <a:pPr>
              <a:buNone/>
            </a:pPr>
            <a:r>
              <a:rPr lang="en-US" sz="1600" dirty="0"/>
              <a:t>Structured lessons guide students through cybersecurity concepts with practical, hands-on examples for effective learning.</a:t>
            </a:r>
          </a:p>
        </p:txBody>
      </p:sp>
      <p:pic>
        <p:nvPicPr>
          <p:cNvPr id="4" name="Picture 3">
            <a:extLst>
              <a:ext uri="{FF2B5EF4-FFF2-40B4-BE49-F238E27FC236}">
                <a16:creationId xmlns:a16="http://schemas.microsoft.com/office/drawing/2014/main" id="{CCCCC35D-21CB-B940-B578-E86D763F915A}"/>
              </a:ext>
            </a:extLst>
          </p:cNvPr>
          <p:cNvPicPr>
            <a:picLocks noChangeAspect="1"/>
          </p:cNvPicPr>
          <p:nvPr/>
        </p:nvPicPr>
        <p:blipFill>
          <a:blip r:embed="rId4"/>
          <a:stretch>
            <a:fillRect/>
          </a:stretch>
        </p:blipFill>
        <p:spPr>
          <a:xfrm>
            <a:off x="6819090" y="1386412"/>
            <a:ext cx="4057100" cy="4057100"/>
          </a:xfrm>
          <a:prstGeom prst="rect">
            <a:avLst/>
          </a:prstGeom>
        </p:spPr>
      </p:pic>
    </p:spTree>
    <p:extLst>
      <p:ext uri="{BB962C8B-B14F-4D97-AF65-F5344CB8AC3E}">
        <p14:creationId xmlns:p14="http://schemas.microsoft.com/office/powerpoint/2010/main" val="495510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F61ED-1C96-08F2-B6D2-3AD55545D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9494F-392F-289E-3588-3A133CBD8897}"/>
              </a:ext>
            </a:extLst>
          </p:cNvPr>
          <p:cNvSpPr>
            <a:spLocks noGrp="1"/>
          </p:cNvSpPr>
          <p:nvPr>
            <p:ph type="title"/>
          </p:nvPr>
        </p:nvSpPr>
        <p:spPr/>
        <p:txBody>
          <a:bodyPr/>
          <a:lstStyle/>
          <a:p>
            <a:r>
              <a:rPr lang="en-US" dirty="0"/>
              <a:t>Technical Highlights</a:t>
            </a:r>
            <a:endParaRPr lang="en-US" sz="3200" dirty="0"/>
          </a:p>
        </p:txBody>
      </p:sp>
      <p:sp>
        <p:nvSpPr>
          <p:cNvPr id="7" name="TextBox 6">
            <a:extLst>
              <a:ext uri="{FF2B5EF4-FFF2-40B4-BE49-F238E27FC236}">
                <a16:creationId xmlns:a16="http://schemas.microsoft.com/office/drawing/2014/main" id="{A5BFD7A1-A2D0-F6BE-9EEB-2DD9D4DCCCAC}"/>
              </a:ext>
            </a:extLst>
          </p:cNvPr>
          <p:cNvSpPr txBox="1"/>
          <p:nvPr/>
        </p:nvSpPr>
        <p:spPr>
          <a:xfrm>
            <a:off x="838200" y="1525233"/>
            <a:ext cx="5475051" cy="4185761"/>
          </a:xfrm>
          <a:prstGeom prst="rect">
            <a:avLst/>
          </a:prstGeom>
          <a:noFill/>
        </p:spPr>
        <p:txBody>
          <a:bodyPr wrap="square">
            <a:spAutoFit/>
          </a:bodyPr>
          <a:lstStyle/>
          <a:p>
            <a:pPr>
              <a:buNone/>
            </a:pPr>
            <a:r>
              <a:rPr lang="en-US" sz="1600" b="1" dirty="0"/>
              <a:t>Technology Stack : </a:t>
            </a:r>
            <a:r>
              <a:rPr lang="en-US" sz="1600" dirty="0"/>
              <a:t>Python, Flask, Chart.js, JavaScript, HTML, CSS</a:t>
            </a:r>
          </a:p>
          <a:p>
            <a:endParaRPr lang="en-US" sz="1000" dirty="0"/>
          </a:p>
          <a:p>
            <a:pPr>
              <a:buNone/>
            </a:pPr>
            <a:r>
              <a:rPr lang="en-US" sz="1600" b="1" dirty="0"/>
              <a:t>Data Foundation</a:t>
            </a:r>
          </a:p>
          <a:p>
            <a:pPr lvl="1"/>
            <a:r>
              <a:rPr lang="en-US" sz="1600" dirty="0"/>
              <a:t>National Vulnerability Database</a:t>
            </a:r>
          </a:p>
          <a:p>
            <a:pPr lvl="1"/>
            <a:r>
              <a:rPr lang="en-IN" sz="1600" dirty="0">
                <a:hlinkClick r:id="rId3"/>
              </a:rPr>
              <a:t>(https://services.nvd.nist.gov/rest/json/cves/2.0</a:t>
            </a:r>
            <a:r>
              <a:rPr lang="en-IN" sz="1600" dirty="0"/>
              <a:t>)</a:t>
            </a:r>
            <a:endParaRPr lang="en-US" sz="1600" dirty="0"/>
          </a:p>
          <a:p>
            <a:pPr lvl="1"/>
            <a:r>
              <a:rPr lang="en-IN" sz="1600" b="1" dirty="0"/>
              <a:t>API Key:</a:t>
            </a:r>
            <a:r>
              <a:rPr lang="en-IN" sz="1600" dirty="0"/>
              <a:t> Enhanced rate limits (50 requests/30 seconds)</a:t>
            </a:r>
          </a:p>
          <a:p>
            <a:endParaRPr lang="en-IN" sz="1600" dirty="0"/>
          </a:p>
          <a:p>
            <a:r>
              <a:rPr lang="en-IN" sz="1600" b="1" dirty="0"/>
              <a:t>Additional Sources:</a:t>
            </a:r>
            <a:endParaRPr lang="en-IN" sz="1600" dirty="0"/>
          </a:p>
          <a:p>
            <a:pPr marL="534988"/>
            <a:r>
              <a:rPr lang="en-IN" sz="1600" b="1" dirty="0"/>
              <a:t>CVSS Framework:</a:t>
            </a:r>
            <a:r>
              <a:rPr lang="en-IN" sz="1600" dirty="0"/>
              <a:t> Severity scoring methodology V3.1</a:t>
            </a:r>
          </a:p>
          <a:p>
            <a:endParaRPr lang="en-IN" sz="1600" b="1" dirty="0"/>
          </a:p>
          <a:p>
            <a:r>
              <a:rPr lang="en-IN" sz="1600" b="1" dirty="0"/>
              <a:t>Data Scope:</a:t>
            </a:r>
            <a:endParaRPr lang="en-IN" sz="1600" dirty="0"/>
          </a:p>
          <a:p>
            <a:pPr marL="534988"/>
            <a:r>
              <a:rPr lang="en-IN" sz="1600" dirty="0"/>
              <a:t>CVE records from 2010-present</a:t>
            </a:r>
          </a:p>
          <a:p>
            <a:pPr marL="534988"/>
            <a:r>
              <a:rPr lang="en-IN" sz="1600" dirty="0"/>
              <a:t>Approximately 150,000+ vulnerability records</a:t>
            </a:r>
          </a:p>
          <a:p>
            <a:pPr marL="534988"/>
            <a:r>
              <a:rPr lang="en-IN" sz="1600" dirty="0"/>
              <a:t>CVSS scores, CWE classifications, Severity levels</a:t>
            </a:r>
          </a:p>
          <a:p>
            <a:pPr marL="534988"/>
            <a:r>
              <a:rPr lang="en-IN" sz="1600" dirty="0"/>
              <a:t>Publication dates, descriptions, and reference links</a:t>
            </a:r>
          </a:p>
          <a:p>
            <a:endParaRPr lang="en-IN" sz="1600" dirty="0"/>
          </a:p>
        </p:txBody>
      </p:sp>
      <p:sp>
        <p:nvSpPr>
          <p:cNvPr id="18" name="Freeform: Shape 17">
            <a:extLst>
              <a:ext uri="{FF2B5EF4-FFF2-40B4-BE49-F238E27FC236}">
                <a16:creationId xmlns:a16="http://schemas.microsoft.com/office/drawing/2014/main" id="{EAA835BD-9ED9-1600-FD48-03519766A246}"/>
              </a:ext>
            </a:extLst>
          </p:cNvPr>
          <p:cNvSpPr/>
          <p:nvPr/>
        </p:nvSpPr>
        <p:spPr>
          <a:xfrm>
            <a:off x="6423496" y="0"/>
            <a:ext cx="6661015" cy="6021422"/>
          </a:xfrm>
          <a:custGeom>
            <a:avLst/>
            <a:gdLst>
              <a:gd name="connsiteX0" fmla="*/ 3100681 w 6661015"/>
              <a:gd name="connsiteY0" fmla="*/ 0 h 6021422"/>
              <a:gd name="connsiteX1" fmla="*/ 3136360 w 6661015"/>
              <a:gd name="connsiteY1" fmla="*/ 0 h 6021422"/>
              <a:gd name="connsiteX2" fmla="*/ 6096821 w 6661015"/>
              <a:gd name="connsiteY2" fmla="*/ 0 h 6021422"/>
              <a:gd name="connsiteX3" fmla="*/ 6661015 w 6661015"/>
              <a:gd name="connsiteY3" fmla="*/ 564194 h 6021422"/>
              <a:gd name="connsiteX4" fmla="*/ 6661015 w 6661015"/>
              <a:gd name="connsiteY4" fmla="*/ 5457227 h 6021422"/>
              <a:gd name="connsiteX5" fmla="*/ 6096821 w 6661015"/>
              <a:gd name="connsiteY5" fmla="*/ 6021421 h 6021422"/>
              <a:gd name="connsiteX6" fmla="*/ 3136405 w 6661015"/>
              <a:gd name="connsiteY6" fmla="*/ 6021421 h 6021422"/>
              <a:gd name="connsiteX7" fmla="*/ 3136360 w 6661015"/>
              <a:gd name="connsiteY7" fmla="*/ 6021422 h 6021422"/>
              <a:gd name="connsiteX8" fmla="*/ 3136316 w 6661015"/>
              <a:gd name="connsiteY8" fmla="*/ 6021421 h 6021422"/>
              <a:gd name="connsiteX9" fmla="*/ 3100681 w 6661015"/>
              <a:gd name="connsiteY9" fmla="*/ 6021421 h 6021422"/>
              <a:gd name="connsiteX10" fmla="*/ 3089380 w 6661015"/>
              <a:gd name="connsiteY10" fmla="*/ 6020282 h 6021422"/>
              <a:gd name="connsiteX11" fmla="*/ 2974964 w 6661015"/>
              <a:gd name="connsiteY11" fmla="*/ 6017505 h 6021422"/>
              <a:gd name="connsiteX12" fmla="*/ 0 w 6661015"/>
              <a:gd name="connsiteY12" fmla="*/ 3010711 h 6021422"/>
              <a:gd name="connsiteX13" fmla="*/ 2974964 w 6661015"/>
              <a:gd name="connsiteY13" fmla="*/ 3918 h 6021422"/>
              <a:gd name="connsiteX14" fmla="*/ 3089366 w 6661015"/>
              <a:gd name="connsiteY14" fmla="*/ 1141 h 6021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61015" h="6021422">
                <a:moveTo>
                  <a:pt x="3100681" y="0"/>
                </a:moveTo>
                <a:lnTo>
                  <a:pt x="3136360" y="0"/>
                </a:lnTo>
                <a:lnTo>
                  <a:pt x="6096821" y="0"/>
                </a:lnTo>
                <a:cubicBezTo>
                  <a:pt x="6408417" y="0"/>
                  <a:pt x="6661015" y="252598"/>
                  <a:pt x="6661015" y="564194"/>
                </a:cubicBezTo>
                <a:lnTo>
                  <a:pt x="6661015" y="5457227"/>
                </a:lnTo>
                <a:cubicBezTo>
                  <a:pt x="6661015" y="5768823"/>
                  <a:pt x="6408417" y="6021421"/>
                  <a:pt x="6096821" y="6021421"/>
                </a:cubicBezTo>
                <a:lnTo>
                  <a:pt x="3136405" y="6021421"/>
                </a:lnTo>
                <a:lnTo>
                  <a:pt x="3136360" y="6021422"/>
                </a:lnTo>
                <a:lnTo>
                  <a:pt x="3136316" y="6021421"/>
                </a:lnTo>
                <a:lnTo>
                  <a:pt x="3100681" y="6021421"/>
                </a:lnTo>
                <a:lnTo>
                  <a:pt x="3089380" y="6020282"/>
                </a:lnTo>
                <a:lnTo>
                  <a:pt x="2974964" y="6017505"/>
                </a:lnTo>
                <a:cubicBezTo>
                  <a:pt x="1317805" y="5936869"/>
                  <a:pt x="0" y="4621520"/>
                  <a:pt x="0" y="3010711"/>
                </a:cubicBezTo>
                <a:cubicBezTo>
                  <a:pt x="0" y="1399903"/>
                  <a:pt x="1317805" y="84554"/>
                  <a:pt x="2974964" y="3918"/>
                </a:cubicBezTo>
                <a:lnTo>
                  <a:pt x="3089366" y="1141"/>
                </a:lnTo>
                <a:close/>
              </a:path>
            </a:pathLst>
          </a:custGeom>
          <a:blipFill dpi="0" rotWithShape="1">
            <a:blip r:embed="rId4"/>
            <a:srcRect/>
            <a:stretch>
              <a:fillRect t="-17000" b="-2000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Tree>
    <p:extLst>
      <p:ext uri="{BB962C8B-B14F-4D97-AF65-F5344CB8AC3E}">
        <p14:creationId xmlns:p14="http://schemas.microsoft.com/office/powerpoint/2010/main" val="3146809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52CB-260C-2C31-8D0F-FABCD9BADDBE}"/>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783DA518-8327-1854-81B9-07092337AD7E}"/>
              </a:ext>
            </a:extLst>
          </p:cNvPr>
          <p:cNvSpPr>
            <a:spLocks noGrp="1"/>
          </p:cNvSpPr>
          <p:nvPr>
            <p:ph idx="1"/>
          </p:nvPr>
        </p:nvSpPr>
        <p:spPr>
          <a:xfrm>
            <a:off x="838200" y="1509742"/>
            <a:ext cx="10515600" cy="4351338"/>
          </a:xfrm>
        </p:spPr>
        <p:txBody>
          <a:bodyPr>
            <a:noAutofit/>
          </a:bodyPr>
          <a:lstStyle/>
          <a:p>
            <a:pPr marL="0" indent="0">
              <a:lnSpc>
                <a:spcPct val="170000"/>
              </a:lnSpc>
              <a:buNone/>
            </a:pPr>
            <a:r>
              <a:rPr lang="en-US" sz="1800" dirty="0"/>
              <a:t>What are the most common types of vulnerabilities (CVEs) reported in the last 5 years, and how do they vary by severity?</a:t>
            </a:r>
          </a:p>
          <a:p>
            <a:pPr marL="0" indent="0">
              <a:lnSpc>
                <a:spcPct val="170000"/>
              </a:lnSpc>
              <a:buNone/>
            </a:pPr>
            <a:r>
              <a:rPr lang="en-US" sz="1800" dirty="0"/>
              <a:t>How do different vulnerability types compare in terms of frequency and severity distribution?</a:t>
            </a:r>
          </a:p>
          <a:p>
            <a:pPr marL="0" indent="0">
              <a:lnSpc>
                <a:spcPct val="170000"/>
              </a:lnSpc>
              <a:buNone/>
            </a:pPr>
            <a:r>
              <a:rPr lang="en-US" sz="1800" dirty="0"/>
              <a:t>How can an interactive dashboard improve the understanding and prioritization of vulnerabilities for cybersecurity students?</a:t>
            </a:r>
          </a:p>
          <a:p>
            <a:pPr marL="0" indent="0">
              <a:lnSpc>
                <a:spcPct val="170000"/>
              </a:lnSpc>
              <a:buNone/>
            </a:pPr>
            <a:r>
              <a:rPr lang="en-US" sz="1800" dirty="0"/>
              <a:t>What are the key features of an interactive dashboard that can effectively educate students about CVE trends and patterns?</a:t>
            </a:r>
          </a:p>
        </p:txBody>
      </p:sp>
    </p:spTree>
    <p:extLst>
      <p:ext uri="{BB962C8B-B14F-4D97-AF65-F5344CB8AC3E}">
        <p14:creationId xmlns:p14="http://schemas.microsoft.com/office/powerpoint/2010/main" val="1259655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4ACC-9880-74D8-736E-7DC131D01580}"/>
              </a:ext>
            </a:extLst>
          </p:cNvPr>
          <p:cNvSpPr>
            <a:spLocks noGrp="1"/>
          </p:cNvSpPr>
          <p:nvPr>
            <p:ph type="title"/>
          </p:nvPr>
        </p:nvSpPr>
        <p:spPr/>
        <p:txBody>
          <a:bodyPr/>
          <a:lstStyle/>
          <a:p>
            <a:r>
              <a:rPr lang="en-US" dirty="0"/>
              <a:t>Beneficiaries</a:t>
            </a:r>
          </a:p>
        </p:txBody>
      </p:sp>
      <p:sp>
        <p:nvSpPr>
          <p:cNvPr id="4" name="Content Placeholder 2">
            <a:extLst>
              <a:ext uri="{FF2B5EF4-FFF2-40B4-BE49-F238E27FC236}">
                <a16:creationId xmlns:a16="http://schemas.microsoft.com/office/drawing/2014/main" id="{3991E6B8-E9F0-AFA2-9D36-DC3D621BAB8F}"/>
              </a:ext>
            </a:extLst>
          </p:cNvPr>
          <p:cNvSpPr txBox="1">
            <a:spLocks/>
          </p:cNvSpPr>
          <p:nvPr/>
        </p:nvSpPr>
        <p:spPr>
          <a:xfrm>
            <a:off x="838200" y="1459225"/>
            <a:ext cx="6933798" cy="2675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800" b="1" dirty="0"/>
              <a:t>Primary Users:</a:t>
            </a:r>
            <a:endParaRPr lang="en-US" sz="1800" dirty="0"/>
          </a:p>
          <a:p>
            <a:pPr marL="447675" indent="-273050">
              <a:lnSpc>
                <a:spcPct val="150000"/>
              </a:lnSpc>
              <a:buFont typeface="Wingdings" panose="05000000000000000000" pitchFamily="2" charset="2"/>
              <a:buChar char="Ø"/>
            </a:pPr>
            <a:r>
              <a:rPr lang="en-US" sz="1600" b="1" dirty="0"/>
              <a:t>Cybersecurity Students:</a:t>
            </a:r>
            <a:r>
              <a:rPr lang="en-US" sz="1600" dirty="0"/>
              <a:t> Learning vulnerability patterns and security concepts</a:t>
            </a:r>
          </a:p>
          <a:p>
            <a:pPr marL="447675" indent="-273050">
              <a:lnSpc>
                <a:spcPct val="150000"/>
              </a:lnSpc>
              <a:buFont typeface="Wingdings" panose="05000000000000000000" pitchFamily="2" charset="2"/>
              <a:buChar char="Ø"/>
            </a:pPr>
            <a:r>
              <a:rPr lang="en-US" sz="1600" b="1" dirty="0"/>
              <a:t>Educators:</a:t>
            </a:r>
            <a:r>
              <a:rPr lang="en-US" sz="1600" dirty="0"/>
              <a:t> Teaching vulnerability analysis and cybersecurity principles</a:t>
            </a:r>
          </a:p>
          <a:p>
            <a:pPr marL="447675" indent="-273050">
              <a:lnSpc>
                <a:spcPct val="150000"/>
              </a:lnSpc>
              <a:buFont typeface="Wingdings" panose="05000000000000000000" pitchFamily="2" charset="2"/>
              <a:buChar char="Ø"/>
            </a:pPr>
            <a:r>
              <a:rPr lang="en-US" sz="1600" b="1" dirty="0"/>
              <a:t>Entry-level Security Professionals:</a:t>
            </a:r>
            <a:r>
              <a:rPr lang="en-US" sz="1600" dirty="0"/>
              <a:t> Understanding threat prioritization</a:t>
            </a:r>
          </a:p>
          <a:p>
            <a:pPr marL="0" indent="0">
              <a:lnSpc>
                <a:spcPct val="150000"/>
              </a:lnSpc>
              <a:buNone/>
            </a:pPr>
            <a:r>
              <a:rPr lang="en-US" sz="1800" b="1" dirty="0"/>
              <a:t>Secondary Users:</a:t>
            </a:r>
            <a:endParaRPr lang="en-US" sz="1800" dirty="0"/>
          </a:p>
          <a:p>
            <a:pPr marL="447675" indent="-273050">
              <a:lnSpc>
                <a:spcPct val="150000"/>
              </a:lnSpc>
              <a:buFont typeface="Wingdings" panose="05000000000000000000" pitchFamily="2" charset="2"/>
              <a:buChar char="Ø"/>
            </a:pPr>
            <a:r>
              <a:rPr lang="en-US" sz="1600" b="1" dirty="0"/>
              <a:t>Researchers:</a:t>
            </a:r>
            <a:r>
              <a:rPr lang="en-US" sz="1600" dirty="0"/>
              <a:t> Analyzing vulnerability trends for academic purposes</a:t>
            </a:r>
          </a:p>
          <a:p>
            <a:pPr marL="174625" indent="0">
              <a:lnSpc>
                <a:spcPct val="150000"/>
              </a:lnSpc>
              <a:buNone/>
            </a:pPr>
            <a:endParaRPr lang="en-US" sz="1800" dirty="0"/>
          </a:p>
        </p:txBody>
      </p:sp>
      <p:sp>
        <p:nvSpPr>
          <p:cNvPr id="5" name="Content Placeholder 2">
            <a:extLst>
              <a:ext uri="{FF2B5EF4-FFF2-40B4-BE49-F238E27FC236}">
                <a16:creationId xmlns:a16="http://schemas.microsoft.com/office/drawing/2014/main" id="{891D3215-CE38-77F8-18AD-3905E1437983}"/>
              </a:ext>
            </a:extLst>
          </p:cNvPr>
          <p:cNvSpPr txBox="1">
            <a:spLocks/>
          </p:cNvSpPr>
          <p:nvPr/>
        </p:nvSpPr>
        <p:spPr>
          <a:xfrm>
            <a:off x="742547" y="4073212"/>
            <a:ext cx="5105400" cy="1325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p>
        </p:txBody>
      </p:sp>
      <p:pic>
        <p:nvPicPr>
          <p:cNvPr id="6" name="Picture 5">
            <a:extLst>
              <a:ext uri="{FF2B5EF4-FFF2-40B4-BE49-F238E27FC236}">
                <a16:creationId xmlns:a16="http://schemas.microsoft.com/office/drawing/2014/main" id="{B1B1E8AF-91F7-B770-116B-B681EFC3AC19}"/>
              </a:ext>
            </a:extLst>
          </p:cNvPr>
          <p:cNvPicPr>
            <a:picLocks noChangeAspect="1"/>
          </p:cNvPicPr>
          <p:nvPr/>
        </p:nvPicPr>
        <p:blipFill>
          <a:blip r:embed="rId3"/>
          <a:stretch>
            <a:fillRect/>
          </a:stretch>
        </p:blipFill>
        <p:spPr>
          <a:xfrm>
            <a:off x="8036669" y="1223659"/>
            <a:ext cx="3581803" cy="3581803"/>
          </a:xfrm>
          <a:prstGeom prst="rect">
            <a:avLst/>
          </a:prstGeom>
        </p:spPr>
      </p:pic>
    </p:spTree>
    <p:extLst>
      <p:ext uri="{BB962C8B-B14F-4D97-AF65-F5344CB8AC3E}">
        <p14:creationId xmlns:p14="http://schemas.microsoft.com/office/powerpoint/2010/main" val="926054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04FA3-92F5-DEEB-92E1-B5A8EE664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54FB5-1614-6C77-AD95-AD37B146BD94}"/>
              </a:ext>
            </a:extLst>
          </p:cNvPr>
          <p:cNvSpPr>
            <a:spLocks noGrp="1"/>
          </p:cNvSpPr>
          <p:nvPr>
            <p:ph type="title"/>
          </p:nvPr>
        </p:nvSpPr>
        <p:spPr/>
        <p:txBody>
          <a:bodyPr/>
          <a:lstStyle/>
          <a:p>
            <a:r>
              <a:rPr lang="en-IN" dirty="0"/>
              <a:t>Impact and Learning</a:t>
            </a:r>
            <a:endParaRPr lang="en-US" dirty="0"/>
          </a:p>
        </p:txBody>
      </p:sp>
      <p:sp>
        <p:nvSpPr>
          <p:cNvPr id="5" name="Content Placeholder 2">
            <a:extLst>
              <a:ext uri="{FF2B5EF4-FFF2-40B4-BE49-F238E27FC236}">
                <a16:creationId xmlns:a16="http://schemas.microsoft.com/office/drawing/2014/main" id="{B5B452ED-9FBC-5925-B476-3076168769AD}"/>
              </a:ext>
            </a:extLst>
          </p:cNvPr>
          <p:cNvSpPr txBox="1">
            <a:spLocks/>
          </p:cNvSpPr>
          <p:nvPr/>
        </p:nvSpPr>
        <p:spPr>
          <a:xfrm>
            <a:off x="-1134892" y="365124"/>
            <a:ext cx="5105400" cy="1325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p>
        </p:txBody>
      </p:sp>
      <p:pic>
        <p:nvPicPr>
          <p:cNvPr id="3" name="Picture 2">
            <a:extLst>
              <a:ext uri="{FF2B5EF4-FFF2-40B4-BE49-F238E27FC236}">
                <a16:creationId xmlns:a16="http://schemas.microsoft.com/office/drawing/2014/main" id="{BB972BB9-FFEE-FF92-84B8-E5D11E589AB3}"/>
              </a:ext>
            </a:extLst>
          </p:cNvPr>
          <p:cNvPicPr>
            <a:picLocks noChangeAspect="1"/>
          </p:cNvPicPr>
          <p:nvPr/>
        </p:nvPicPr>
        <p:blipFill>
          <a:blip r:embed="rId3"/>
          <a:stretch>
            <a:fillRect/>
          </a:stretch>
        </p:blipFill>
        <p:spPr>
          <a:xfrm>
            <a:off x="1284050" y="1925615"/>
            <a:ext cx="2902972" cy="1986244"/>
          </a:xfrm>
          <a:prstGeom prst="rect">
            <a:avLst/>
          </a:prstGeom>
        </p:spPr>
      </p:pic>
      <p:pic>
        <p:nvPicPr>
          <p:cNvPr id="6" name="Picture 5">
            <a:extLst>
              <a:ext uri="{FF2B5EF4-FFF2-40B4-BE49-F238E27FC236}">
                <a16:creationId xmlns:a16="http://schemas.microsoft.com/office/drawing/2014/main" id="{2DA7F542-2485-895E-32DB-091879C5F2C0}"/>
              </a:ext>
            </a:extLst>
          </p:cNvPr>
          <p:cNvPicPr>
            <a:picLocks noChangeAspect="1"/>
          </p:cNvPicPr>
          <p:nvPr/>
        </p:nvPicPr>
        <p:blipFill>
          <a:blip r:embed="rId4"/>
          <a:stretch>
            <a:fillRect/>
          </a:stretch>
        </p:blipFill>
        <p:spPr>
          <a:xfrm>
            <a:off x="4729576" y="1925615"/>
            <a:ext cx="2902971" cy="1986244"/>
          </a:xfrm>
          <a:prstGeom prst="rect">
            <a:avLst/>
          </a:prstGeom>
        </p:spPr>
      </p:pic>
      <p:pic>
        <p:nvPicPr>
          <p:cNvPr id="7" name="Picture 6">
            <a:extLst>
              <a:ext uri="{FF2B5EF4-FFF2-40B4-BE49-F238E27FC236}">
                <a16:creationId xmlns:a16="http://schemas.microsoft.com/office/drawing/2014/main" id="{35474DB9-48C5-A593-9DEC-41669B289128}"/>
              </a:ext>
            </a:extLst>
          </p:cNvPr>
          <p:cNvPicPr>
            <a:picLocks noChangeAspect="1"/>
          </p:cNvPicPr>
          <p:nvPr/>
        </p:nvPicPr>
        <p:blipFill>
          <a:blip r:embed="rId5"/>
          <a:stretch>
            <a:fillRect/>
          </a:stretch>
        </p:blipFill>
        <p:spPr>
          <a:xfrm>
            <a:off x="8175102" y="1878779"/>
            <a:ext cx="2971424" cy="2033080"/>
          </a:xfrm>
          <a:prstGeom prst="rect">
            <a:avLst/>
          </a:prstGeom>
        </p:spPr>
      </p:pic>
      <p:sp>
        <p:nvSpPr>
          <p:cNvPr id="8" name="TextBox 7">
            <a:extLst>
              <a:ext uri="{FF2B5EF4-FFF2-40B4-BE49-F238E27FC236}">
                <a16:creationId xmlns:a16="http://schemas.microsoft.com/office/drawing/2014/main" id="{83C1A7B0-82AB-38D9-F701-CBFAD08A0F8F}"/>
              </a:ext>
            </a:extLst>
          </p:cNvPr>
          <p:cNvSpPr txBox="1"/>
          <p:nvPr/>
        </p:nvSpPr>
        <p:spPr>
          <a:xfrm>
            <a:off x="1284051" y="3998070"/>
            <a:ext cx="3142034" cy="1785104"/>
          </a:xfrm>
          <a:prstGeom prst="rect">
            <a:avLst/>
          </a:prstGeom>
          <a:noFill/>
        </p:spPr>
        <p:txBody>
          <a:bodyPr wrap="square" rtlCol="0">
            <a:spAutoFit/>
          </a:bodyPr>
          <a:lstStyle/>
          <a:p>
            <a:r>
              <a:rPr lang="en-US" b="1" dirty="0"/>
              <a:t>Understanding vulnerability patterns</a:t>
            </a:r>
          </a:p>
          <a:p>
            <a:endParaRPr lang="en-US" sz="1000" b="1" dirty="0"/>
          </a:p>
          <a:p>
            <a:r>
              <a:rPr lang="en-US" sz="1600" dirty="0"/>
              <a:t>Students learn to recognize common security weaknesses and how they manifest across different systems and applications.</a:t>
            </a:r>
          </a:p>
        </p:txBody>
      </p:sp>
      <p:sp>
        <p:nvSpPr>
          <p:cNvPr id="9" name="TextBox 8">
            <a:extLst>
              <a:ext uri="{FF2B5EF4-FFF2-40B4-BE49-F238E27FC236}">
                <a16:creationId xmlns:a16="http://schemas.microsoft.com/office/drawing/2014/main" id="{761A46EC-1AA7-5255-0EC2-F38EAB2522F0}"/>
              </a:ext>
            </a:extLst>
          </p:cNvPr>
          <p:cNvSpPr txBox="1"/>
          <p:nvPr/>
        </p:nvSpPr>
        <p:spPr>
          <a:xfrm>
            <a:off x="4729575" y="3998070"/>
            <a:ext cx="3142033" cy="1508105"/>
          </a:xfrm>
          <a:prstGeom prst="rect">
            <a:avLst/>
          </a:prstGeom>
          <a:noFill/>
        </p:spPr>
        <p:txBody>
          <a:bodyPr wrap="square" rtlCol="0">
            <a:spAutoFit/>
          </a:bodyPr>
          <a:lstStyle/>
          <a:p>
            <a:r>
              <a:rPr lang="en-US" b="1" dirty="0"/>
              <a:t>Threat prioritization skills</a:t>
            </a:r>
          </a:p>
          <a:p>
            <a:endParaRPr lang="en-US" sz="1000" b="1" dirty="0"/>
          </a:p>
          <a:p>
            <a:r>
              <a:rPr lang="en-US" sz="1600" dirty="0"/>
              <a:t>Develop the ability to assess and rank vulnerabilities by severity, enabling effective resource allocation for security efforts.</a:t>
            </a:r>
          </a:p>
        </p:txBody>
      </p:sp>
      <p:sp>
        <p:nvSpPr>
          <p:cNvPr id="10" name="TextBox 9">
            <a:extLst>
              <a:ext uri="{FF2B5EF4-FFF2-40B4-BE49-F238E27FC236}">
                <a16:creationId xmlns:a16="http://schemas.microsoft.com/office/drawing/2014/main" id="{38A46516-83A6-84D3-C7CB-72F96D1132D0}"/>
              </a:ext>
            </a:extLst>
          </p:cNvPr>
          <p:cNvSpPr txBox="1"/>
          <p:nvPr/>
        </p:nvSpPr>
        <p:spPr>
          <a:xfrm>
            <a:off x="8175101" y="3998070"/>
            <a:ext cx="3284081" cy="1785104"/>
          </a:xfrm>
          <a:prstGeom prst="rect">
            <a:avLst/>
          </a:prstGeom>
          <a:noFill/>
        </p:spPr>
        <p:txBody>
          <a:bodyPr wrap="square" rtlCol="0">
            <a:spAutoFit/>
          </a:bodyPr>
          <a:lstStyle/>
          <a:p>
            <a:r>
              <a:rPr lang="en-US" b="1" dirty="0"/>
              <a:t>Practical cybersecurity knowledge</a:t>
            </a:r>
          </a:p>
          <a:p>
            <a:endParaRPr lang="en-US" sz="1000" b="1" dirty="0"/>
          </a:p>
          <a:p>
            <a:r>
              <a:rPr lang="en-US" sz="1600" dirty="0"/>
              <a:t>Gain hands-on experience with real vulnerability data and industry-standard tools, preparing students for professional cybersecurity roles.</a:t>
            </a:r>
          </a:p>
        </p:txBody>
      </p:sp>
      <p:sp>
        <p:nvSpPr>
          <p:cNvPr id="12" name="TextBox 11">
            <a:extLst>
              <a:ext uri="{FF2B5EF4-FFF2-40B4-BE49-F238E27FC236}">
                <a16:creationId xmlns:a16="http://schemas.microsoft.com/office/drawing/2014/main" id="{708E7D1B-CFF4-1102-BC5B-03C921780B55}"/>
              </a:ext>
            </a:extLst>
          </p:cNvPr>
          <p:cNvSpPr txBox="1"/>
          <p:nvPr/>
        </p:nvSpPr>
        <p:spPr>
          <a:xfrm>
            <a:off x="855300" y="1415401"/>
            <a:ext cx="6663446" cy="338554"/>
          </a:xfrm>
          <a:prstGeom prst="rect">
            <a:avLst/>
          </a:prstGeom>
          <a:noFill/>
        </p:spPr>
        <p:txBody>
          <a:bodyPr wrap="square">
            <a:spAutoFit/>
          </a:bodyPr>
          <a:lstStyle/>
          <a:p>
            <a:pPr>
              <a:buNone/>
            </a:pPr>
            <a:r>
              <a:rPr lang="en-IN" sz="1600" dirty="0"/>
              <a:t>What students gain</a:t>
            </a:r>
          </a:p>
        </p:txBody>
      </p:sp>
    </p:spTree>
    <p:extLst>
      <p:ext uri="{BB962C8B-B14F-4D97-AF65-F5344CB8AC3E}">
        <p14:creationId xmlns:p14="http://schemas.microsoft.com/office/powerpoint/2010/main" val="2335677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34BD2-0660-CEE4-F3F6-B19C5C4CD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804F8-F806-C15F-B9CE-ECF1711DB655}"/>
              </a:ext>
            </a:extLst>
          </p:cNvPr>
          <p:cNvSpPr>
            <a:spLocks noGrp="1"/>
          </p:cNvSpPr>
          <p:nvPr>
            <p:ph type="title"/>
          </p:nvPr>
        </p:nvSpPr>
        <p:spPr/>
        <p:txBody>
          <a:bodyPr/>
          <a:lstStyle/>
          <a:p>
            <a:r>
              <a:rPr lang="en-US" dirty="0"/>
              <a:t>Next steps</a:t>
            </a:r>
          </a:p>
        </p:txBody>
      </p:sp>
      <p:sp>
        <p:nvSpPr>
          <p:cNvPr id="5" name="Content Placeholder 2">
            <a:extLst>
              <a:ext uri="{FF2B5EF4-FFF2-40B4-BE49-F238E27FC236}">
                <a16:creationId xmlns:a16="http://schemas.microsoft.com/office/drawing/2014/main" id="{72D11792-CBDD-D124-12BE-0571853254F8}"/>
              </a:ext>
            </a:extLst>
          </p:cNvPr>
          <p:cNvSpPr txBox="1">
            <a:spLocks/>
          </p:cNvSpPr>
          <p:nvPr/>
        </p:nvSpPr>
        <p:spPr>
          <a:xfrm>
            <a:off x="742547" y="4073212"/>
            <a:ext cx="5105400" cy="1325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p>
        </p:txBody>
      </p:sp>
      <p:sp>
        <p:nvSpPr>
          <p:cNvPr id="4" name="TextBox 3">
            <a:extLst>
              <a:ext uri="{FF2B5EF4-FFF2-40B4-BE49-F238E27FC236}">
                <a16:creationId xmlns:a16="http://schemas.microsoft.com/office/drawing/2014/main" id="{8EB1863A-82EA-A973-B6EB-6F17D250C56E}"/>
              </a:ext>
            </a:extLst>
          </p:cNvPr>
          <p:cNvSpPr txBox="1"/>
          <p:nvPr/>
        </p:nvSpPr>
        <p:spPr>
          <a:xfrm>
            <a:off x="838201" y="1307650"/>
            <a:ext cx="5825246" cy="4619854"/>
          </a:xfrm>
          <a:prstGeom prst="rect">
            <a:avLst/>
          </a:prstGeom>
          <a:noFill/>
        </p:spPr>
        <p:txBody>
          <a:bodyPr wrap="square">
            <a:spAutoFit/>
          </a:bodyPr>
          <a:lstStyle/>
          <a:p>
            <a:pPr>
              <a:lnSpc>
                <a:spcPct val="150000"/>
              </a:lnSpc>
            </a:pPr>
            <a:r>
              <a:rPr lang="en-US" b="1" dirty="0"/>
              <a:t>Short-term Improvements:</a:t>
            </a:r>
            <a:endParaRPr lang="en-US" dirty="0"/>
          </a:p>
          <a:p>
            <a:pPr marL="808038" indent="-273050">
              <a:lnSpc>
                <a:spcPct val="150000"/>
              </a:lnSpc>
              <a:buFont typeface="Wingdings" panose="05000000000000000000" pitchFamily="2" charset="2"/>
              <a:buChar char="Ø"/>
            </a:pPr>
            <a:r>
              <a:rPr lang="en-US" dirty="0"/>
              <a:t>Mobile optimization and user authentication</a:t>
            </a:r>
          </a:p>
          <a:p>
            <a:pPr marL="808038" indent="-273050">
              <a:lnSpc>
                <a:spcPct val="150000"/>
              </a:lnSpc>
              <a:buFont typeface="Wingdings" panose="05000000000000000000" pitchFamily="2" charset="2"/>
              <a:buChar char="Ø"/>
            </a:pPr>
            <a:r>
              <a:rPr lang="en-US" dirty="0"/>
              <a:t>Educational gamification with quizzes and badges</a:t>
            </a:r>
          </a:p>
          <a:p>
            <a:pPr>
              <a:lnSpc>
                <a:spcPct val="150000"/>
              </a:lnSpc>
            </a:pPr>
            <a:r>
              <a:rPr lang="en-US" b="1" dirty="0"/>
              <a:t>Medium-term Goals:</a:t>
            </a:r>
            <a:endParaRPr lang="en-US" dirty="0"/>
          </a:p>
          <a:p>
            <a:pPr marL="808038" indent="-273050">
              <a:lnSpc>
                <a:spcPct val="150000"/>
              </a:lnSpc>
              <a:buFont typeface="Wingdings" panose="05000000000000000000" pitchFamily="2" charset="2"/>
              <a:buChar char="Ø"/>
            </a:pPr>
            <a:r>
              <a:rPr lang="en-US" dirty="0"/>
              <a:t>Machine learning integration and multi-language support</a:t>
            </a:r>
          </a:p>
          <a:p>
            <a:pPr marL="808038" indent="-273050">
              <a:lnSpc>
                <a:spcPct val="150000"/>
              </a:lnSpc>
              <a:buFont typeface="Wingdings" panose="05000000000000000000" pitchFamily="2" charset="2"/>
              <a:buChar char="Ø"/>
            </a:pPr>
            <a:r>
              <a:rPr lang="en-US" dirty="0"/>
              <a:t>Enterprise features and open-source development</a:t>
            </a:r>
          </a:p>
          <a:p>
            <a:pPr>
              <a:lnSpc>
                <a:spcPct val="150000"/>
              </a:lnSpc>
            </a:pPr>
            <a:r>
              <a:rPr lang="en-US" b="1" dirty="0"/>
              <a:t>Long-term Vision:</a:t>
            </a:r>
            <a:endParaRPr lang="en-US" dirty="0"/>
          </a:p>
          <a:p>
            <a:pPr marL="808038" indent="-273050">
              <a:lnSpc>
                <a:spcPct val="150000"/>
              </a:lnSpc>
              <a:buFont typeface="Wingdings" panose="05000000000000000000" pitchFamily="2" charset="2"/>
              <a:buChar char="Ø"/>
            </a:pPr>
            <a:r>
              <a:rPr lang="en-US" dirty="0"/>
              <a:t>Advanced analytics and educational innovation</a:t>
            </a:r>
          </a:p>
          <a:p>
            <a:pPr marL="808038" indent="-273050">
              <a:lnSpc>
                <a:spcPct val="150000"/>
              </a:lnSpc>
              <a:buFont typeface="Wingdings" panose="05000000000000000000" pitchFamily="2" charset="2"/>
              <a:buChar char="Ø"/>
            </a:pPr>
            <a:r>
              <a:rPr lang="en-US" dirty="0"/>
              <a:t>Interactive learning platform with comprehensive quiz systems</a:t>
            </a:r>
          </a:p>
        </p:txBody>
      </p:sp>
      <p:sp>
        <p:nvSpPr>
          <p:cNvPr id="8" name="Freeform: Shape 7">
            <a:extLst>
              <a:ext uri="{FF2B5EF4-FFF2-40B4-BE49-F238E27FC236}">
                <a16:creationId xmlns:a16="http://schemas.microsoft.com/office/drawing/2014/main" id="{C48F2A02-9B0A-1EE5-7337-0F6419578132}"/>
              </a:ext>
            </a:extLst>
          </p:cNvPr>
          <p:cNvSpPr/>
          <p:nvPr/>
        </p:nvSpPr>
        <p:spPr>
          <a:xfrm>
            <a:off x="6507804" y="0"/>
            <a:ext cx="6430792" cy="6021421"/>
          </a:xfrm>
          <a:custGeom>
            <a:avLst/>
            <a:gdLst>
              <a:gd name="connsiteX0" fmla="*/ 3100681 w 6661015"/>
              <a:gd name="connsiteY0" fmla="*/ 0 h 6021422"/>
              <a:gd name="connsiteX1" fmla="*/ 3136360 w 6661015"/>
              <a:gd name="connsiteY1" fmla="*/ 0 h 6021422"/>
              <a:gd name="connsiteX2" fmla="*/ 6096821 w 6661015"/>
              <a:gd name="connsiteY2" fmla="*/ 0 h 6021422"/>
              <a:gd name="connsiteX3" fmla="*/ 6661015 w 6661015"/>
              <a:gd name="connsiteY3" fmla="*/ 564194 h 6021422"/>
              <a:gd name="connsiteX4" fmla="*/ 6661015 w 6661015"/>
              <a:gd name="connsiteY4" fmla="*/ 5457227 h 6021422"/>
              <a:gd name="connsiteX5" fmla="*/ 6096821 w 6661015"/>
              <a:gd name="connsiteY5" fmla="*/ 6021421 h 6021422"/>
              <a:gd name="connsiteX6" fmla="*/ 3136405 w 6661015"/>
              <a:gd name="connsiteY6" fmla="*/ 6021421 h 6021422"/>
              <a:gd name="connsiteX7" fmla="*/ 3136360 w 6661015"/>
              <a:gd name="connsiteY7" fmla="*/ 6021422 h 6021422"/>
              <a:gd name="connsiteX8" fmla="*/ 3136316 w 6661015"/>
              <a:gd name="connsiteY8" fmla="*/ 6021421 h 6021422"/>
              <a:gd name="connsiteX9" fmla="*/ 3100681 w 6661015"/>
              <a:gd name="connsiteY9" fmla="*/ 6021421 h 6021422"/>
              <a:gd name="connsiteX10" fmla="*/ 3089380 w 6661015"/>
              <a:gd name="connsiteY10" fmla="*/ 6020282 h 6021422"/>
              <a:gd name="connsiteX11" fmla="*/ 2974964 w 6661015"/>
              <a:gd name="connsiteY11" fmla="*/ 6017505 h 6021422"/>
              <a:gd name="connsiteX12" fmla="*/ 0 w 6661015"/>
              <a:gd name="connsiteY12" fmla="*/ 3010711 h 6021422"/>
              <a:gd name="connsiteX13" fmla="*/ 2974964 w 6661015"/>
              <a:gd name="connsiteY13" fmla="*/ 3918 h 6021422"/>
              <a:gd name="connsiteX14" fmla="*/ 3089366 w 6661015"/>
              <a:gd name="connsiteY14" fmla="*/ 1141 h 6021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61015" h="6021422">
                <a:moveTo>
                  <a:pt x="3100681" y="0"/>
                </a:moveTo>
                <a:lnTo>
                  <a:pt x="3136360" y="0"/>
                </a:lnTo>
                <a:lnTo>
                  <a:pt x="6096821" y="0"/>
                </a:lnTo>
                <a:cubicBezTo>
                  <a:pt x="6408417" y="0"/>
                  <a:pt x="6661015" y="252598"/>
                  <a:pt x="6661015" y="564194"/>
                </a:cubicBezTo>
                <a:lnTo>
                  <a:pt x="6661015" y="5457227"/>
                </a:lnTo>
                <a:cubicBezTo>
                  <a:pt x="6661015" y="5768823"/>
                  <a:pt x="6408417" y="6021421"/>
                  <a:pt x="6096821" y="6021421"/>
                </a:cubicBezTo>
                <a:lnTo>
                  <a:pt x="3136405" y="6021421"/>
                </a:lnTo>
                <a:lnTo>
                  <a:pt x="3136360" y="6021422"/>
                </a:lnTo>
                <a:lnTo>
                  <a:pt x="3136316" y="6021421"/>
                </a:lnTo>
                <a:lnTo>
                  <a:pt x="3100681" y="6021421"/>
                </a:lnTo>
                <a:lnTo>
                  <a:pt x="3089380" y="6020282"/>
                </a:lnTo>
                <a:lnTo>
                  <a:pt x="2974964" y="6017505"/>
                </a:lnTo>
                <a:cubicBezTo>
                  <a:pt x="1317805" y="5936869"/>
                  <a:pt x="0" y="4621520"/>
                  <a:pt x="0" y="3010711"/>
                </a:cubicBezTo>
                <a:cubicBezTo>
                  <a:pt x="0" y="1399903"/>
                  <a:pt x="1317805" y="84554"/>
                  <a:pt x="2974964" y="3918"/>
                </a:cubicBezTo>
                <a:lnTo>
                  <a:pt x="3089366" y="1141"/>
                </a:lnTo>
                <a:close/>
              </a:path>
            </a:pathLst>
          </a:custGeom>
          <a:blipFill dpi="0" rotWithShape="1">
            <a:blip r:embed="rId3"/>
            <a:srcRect/>
            <a:stretch>
              <a:fillRect l="-13000" t="-16000" r="-13000" b="-1900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Tree>
    <p:extLst>
      <p:ext uri="{BB962C8B-B14F-4D97-AF65-F5344CB8AC3E}">
        <p14:creationId xmlns:p14="http://schemas.microsoft.com/office/powerpoint/2010/main" val="274845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FDCE8-DA36-9E41-DD2C-20DD19521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5E349-C9F4-1CA7-AE8A-6407ACB2EDE1}"/>
              </a:ext>
            </a:extLst>
          </p:cNvPr>
          <p:cNvSpPr>
            <a:spLocks noGrp="1"/>
          </p:cNvSpPr>
          <p:nvPr>
            <p:ph type="title"/>
          </p:nvPr>
        </p:nvSpPr>
        <p:spPr/>
        <p:txBody>
          <a:bodyPr/>
          <a:lstStyle/>
          <a:p>
            <a:r>
              <a:rPr lang="en-US" b="1" dirty="0"/>
              <a:t>References</a:t>
            </a:r>
            <a:endParaRPr lang="en-US" dirty="0"/>
          </a:p>
        </p:txBody>
      </p:sp>
      <p:sp>
        <p:nvSpPr>
          <p:cNvPr id="4" name="TextBox 3">
            <a:extLst>
              <a:ext uri="{FF2B5EF4-FFF2-40B4-BE49-F238E27FC236}">
                <a16:creationId xmlns:a16="http://schemas.microsoft.com/office/drawing/2014/main" id="{AA25CE5E-42BF-F035-597E-C4A729BA4CF3}"/>
              </a:ext>
            </a:extLst>
          </p:cNvPr>
          <p:cNvSpPr txBox="1"/>
          <p:nvPr/>
        </p:nvSpPr>
        <p:spPr>
          <a:xfrm>
            <a:off x="838200" y="1443841"/>
            <a:ext cx="10515600" cy="4247317"/>
          </a:xfrm>
          <a:prstGeom prst="rect">
            <a:avLst/>
          </a:prstGeom>
          <a:noFill/>
        </p:spPr>
        <p:txBody>
          <a:bodyPr wrap="square">
            <a:spAutoFit/>
          </a:bodyPr>
          <a:lstStyle/>
          <a:p>
            <a:r>
              <a:rPr lang="en-IN" b="1" dirty="0"/>
              <a:t>Primary Data Sources:</a:t>
            </a:r>
            <a:endParaRPr lang="en-IN" dirty="0"/>
          </a:p>
          <a:p>
            <a:r>
              <a:rPr lang="en-IN" dirty="0"/>
              <a:t>National Institute of Standards and Technology (NIST) </a:t>
            </a:r>
            <a:r>
              <a:rPr lang="en-IN" dirty="0">
                <a:hlinkClick r:id="rId2"/>
              </a:rPr>
              <a:t>https://nvd.nist.gov/</a:t>
            </a:r>
            <a:endParaRPr lang="en-IN" dirty="0"/>
          </a:p>
          <a:p>
            <a:r>
              <a:rPr lang="en-IN" dirty="0"/>
              <a:t>MITRE Corporation, Common Vulnerabilities and Exposures (CVE). </a:t>
            </a:r>
            <a:r>
              <a:rPr lang="en-IN" dirty="0">
                <a:hlinkClick r:id="rId3"/>
              </a:rPr>
              <a:t>https://cve.mitre.org/</a:t>
            </a:r>
            <a:endParaRPr lang="en-IN" dirty="0"/>
          </a:p>
          <a:p>
            <a:r>
              <a:rPr lang="en-IN" dirty="0"/>
              <a:t>MITRE Corporation, Common Weakness Enumeration (CWE). </a:t>
            </a:r>
            <a:r>
              <a:rPr lang="en-IN" dirty="0">
                <a:hlinkClick r:id="rId4"/>
              </a:rPr>
              <a:t>https://cwe.mitre.org/</a:t>
            </a:r>
            <a:endParaRPr lang="en-IN" dirty="0"/>
          </a:p>
          <a:p>
            <a:r>
              <a:rPr lang="en-IN" dirty="0"/>
              <a:t>FIRST.org, Common Vulnerability Scoring System (CVSS). </a:t>
            </a:r>
            <a:r>
              <a:rPr lang="en-IN" dirty="0">
                <a:hlinkClick r:id="rId5"/>
              </a:rPr>
              <a:t>https://www.first.org/cvss/</a:t>
            </a:r>
            <a:endParaRPr lang="en-IN" dirty="0"/>
          </a:p>
          <a:p>
            <a:endParaRPr lang="en-IN" dirty="0"/>
          </a:p>
          <a:p>
            <a:r>
              <a:rPr lang="en-IN" b="1" dirty="0"/>
              <a:t>Technical Documentation:</a:t>
            </a:r>
            <a:endParaRPr lang="en-IN" dirty="0"/>
          </a:p>
          <a:p>
            <a:r>
              <a:rPr lang="en-IN" dirty="0"/>
              <a:t>Flask Documentation, Pallets Projects </a:t>
            </a:r>
            <a:r>
              <a:rPr lang="en-IN" dirty="0">
                <a:hlinkClick r:id="rId6"/>
              </a:rPr>
              <a:t>https://flask.palletsprojects.com/</a:t>
            </a:r>
            <a:endParaRPr lang="en-IN" dirty="0"/>
          </a:p>
          <a:p>
            <a:r>
              <a:rPr lang="en-IN" dirty="0"/>
              <a:t>Chart.js Documentation. </a:t>
            </a:r>
            <a:r>
              <a:rPr lang="en-IN" dirty="0">
                <a:hlinkClick r:id="rId7"/>
              </a:rPr>
              <a:t>https://www.chartjs.org/docs/</a:t>
            </a:r>
            <a:endParaRPr lang="en-IN" dirty="0"/>
          </a:p>
          <a:p>
            <a:r>
              <a:rPr lang="en-IN" dirty="0"/>
              <a:t>NVD API 2.0 Documentation. </a:t>
            </a:r>
            <a:r>
              <a:rPr lang="en-IN" dirty="0">
                <a:hlinkClick r:id="rId8"/>
              </a:rPr>
              <a:t>https://nvd.nist.gov/developers/vulnerabilities</a:t>
            </a:r>
            <a:endParaRPr lang="en-IN" dirty="0"/>
          </a:p>
          <a:p>
            <a:r>
              <a:rPr lang="en-IN" dirty="0"/>
              <a:t>Render Platform Documentation. </a:t>
            </a:r>
            <a:r>
              <a:rPr lang="en-IN" dirty="0">
                <a:hlinkClick r:id="rId9"/>
              </a:rPr>
              <a:t>https://render.com/docs</a:t>
            </a:r>
            <a:endParaRPr lang="en-IN" dirty="0"/>
          </a:p>
          <a:p>
            <a:endParaRPr lang="en-IN" b="1" dirty="0"/>
          </a:p>
          <a:p>
            <a:r>
              <a:rPr lang="en-IN" b="1" dirty="0"/>
              <a:t>Industry Standards:</a:t>
            </a:r>
            <a:endParaRPr lang="en-IN" dirty="0"/>
          </a:p>
          <a:p>
            <a:r>
              <a:rPr lang="en-IN" dirty="0"/>
              <a:t>OWASP Top 10 Web Application Security Risks. </a:t>
            </a:r>
            <a:r>
              <a:rPr lang="en-IN" dirty="0">
                <a:hlinkClick r:id="rId10"/>
              </a:rPr>
              <a:t>https://owasp.org/www-project-top-ten/</a:t>
            </a:r>
            <a:endParaRPr lang="en-IN" dirty="0"/>
          </a:p>
          <a:p>
            <a:r>
              <a:rPr lang="en-IN" dirty="0"/>
              <a:t>SANS Top 25 Most Dangerous Software Errors. </a:t>
            </a:r>
            <a:r>
              <a:rPr lang="en-IN" dirty="0">
                <a:hlinkClick r:id="rId11"/>
              </a:rPr>
              <a:t>https://www.sans.org/top25-software-errors/</a:t>
            </a:r>
            <a:endParaRPr lang="en-IN" dirty="0"/>
          </a:p>
        </p:txBody>
      </p:sp>
    </p:spTree>
    <p:extLst>
      <p:ext uri="{BB962C8B-B14F-4D97-AF65-F5344CB8AC3E}">
        <p14:creationId xmlns:p14="http://schemas.microsoft.com/office/powerpoint/2010/main" val="1280872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5F4B-D25B-4ABD-9175-59778702E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400CA-C619-0D80-90B6-26E9B6C25D64}"/>
              </a:ext>
            </a:extLst>
          </p:cNvPr>
          <p:cNvSpPr>
            <a:spLocks noGrp="1"/>
          </p:cNvSpPr>
          <p:nvPr>
            <p:ph type="title"/>
          </p:nvPr>
        </p:nvSpPr>
        <p:spPr/>
        <p:txBody>
          <a:bodyPr/>
          <a:lstStyle/>
          <a:p>
            <a:r>
              <a:rPr lang="en-US" b="1" dirty="0"/>
              <a:t>Appendix </a:t>
            </a:r>
            <a:r>
              <a:rPr lang="en-IN" sz="3200" dirty="0"/>
              <a:t>- Technical Specifications</a:t>
            </a:r>
            <a:endParaRPr lang="en-US" sz="3200" dirty="0"/>
          </a:p>
        </p:txBody>
      </p:sp>
      <p:sp>
        <p:nvSpPr>
          <p:cNvPr id="4" name="TextBox 3">
            <a:extLst>
              <a:ext uri="{FF2B5EF4-FFF2-40B4-BE49-F238E27FC236}">
                <a16:creationId xmlns:a16="http://schemas.microsoft.com/office/drawing/2014/main" id="{AB2FEF8C-737C-0119-5681-02C0709EF986}"/>
              </a:ext>
            </a:extLst>
          </p:cNvPr>
          <p:cNvSpPr txBox="1"/>
          <p:nvPr/>
        </p:nvSpPr>
        <p:spPr>
          <a:xfrm>
            <a:off x="838200" y="1356289"/>
            <a:ext cx="8626813" cy="4619854"/>
          </a:xfrm>
          <a:prstGeom prst="rect">
            <a:avLst/>
          </a:prstGeom>
          <a:noFill/>
        </p:spPr>
        <p:txBody>
          <a:bodyPr wrap="square">
            <a:spAutoFit/>
          </a:bodyPr>
          <a:lstStyle/>
          <a:p>
            <a:pPr>
              <a:lnSpc>
                <a:spcPct val="150000"/>
              </a:lnSpc>
            </a:pPr>
            <a:r>
              <a:rPr lang="en-IN" b="1" dirty="0"/>
              <a:t>Development Stack:</a:t>
            </a:r>
            <a:endParaRPr lang="en-IN" dirty="0"/>
          </a:p>
          <a:p>
            <a:pPr marL="808038" indent="-273050">
              <a:lnSpc>
                <a:spcPct val="150000"/>
              </a:lnSpc>
              <a:buFont typeface="Wingdings" panose="05000000000000000000" pitchFamily="2" charset="2"/>
              <a:buChar char="Ø"/>
            </a:pPr>
            <a:r>
              <a:rPr lang="en-IN" b="1" dirty="0"/>
              <a:t>Backend Framework:</a:t>
            </a:r>
            <a:r>
              <a:rPr lang="en-IN" dirty="0"/>
              <a:t> Python 3.9+, Flask 2.3.0</a:t>
            </a:r>
          </a:p>
          <a:p>
            <a:pPr marL="808038" indent="-273050">
              <a:lnSpc>
                <a:spcPct val="150000"/>
              </a:lnSpc>
              <a:buFont typeface="Wingdings" panose="05000000000000000000" pitchFamily="2" charset="2"/>
              <a:buChar char="Ø"/>
            </a:pPr>
            <a:r>
              <a:rPr lang="en-IN" b="1" dirty="0"/>
              <a:t>Data Processing:</a:t>
            </a:r>
            <a:r>
              <a:rPr lang="en-IN" dirty="0"/>
              <a:t> Pandas, Requests, JSON parsing libraries</a:t>
            </a:r>
          </a:p>
          <a:p>
            <a:pPr marL="808038" indent="-273050">
              <a:lnSpc>
                <a:spcPct val="150000"/>
              </a:lnSpc>
              <a:buFont typeface="Wingdings" panose="05000000000000000000" pitchFamily="2" charset="2"/>
              <a:buChar char="Ø"/>
            </a:pPr>
            <a:r>
              <a:rPr lang="en-IN" b="1" dirty="0"/>
              <a:t>Frontend Technologies:</a:t>
            </a:r>
            <a:r>
              <a:rPr lang="en-IN" dirty="0"/>
              <a:t> HTML5, CSS3, JavaScript ES6</a:t>
            </a:r>
          </a:p>
          <a:p>
            <a:pPr marL="808038" indent="-273050">
              <a:lnSpc>
                <a:spcPct val="150000"/>
              </a:lnSpc>
              <a:buFont typeface="Wingdings" panose="05000000000000000000" pitchFamily="2" charset="2"/>
              <a:buChar char="Ø"/>
            </a:pPr>
            <a:r>
              <a:rPr lang="en-IN" b="1" dirty="0"/>
              <a:t>Visualization Library:</a:t>
            </a:r>
            <a:r>
              <a:rPr lang="en-IN" dirty="0"/>
              <a:t> Chart.js 3.9 with custom configurations</a:t>
            </a:r>
          </a:p>
          <a:p>
            <a:pPr marL="808038" indent="-273050">
              <a:lnSpc>
                <a:spcPct val="150000"/>
              </a:lnSpc>
              <a:buFont typeface="Wingdings" panose="05000000000000000000" pitchFamily="2" charset="2"/>
              <a:buChar char="Ø"/>
            </a:pPr>
            <a:r>
              <a:rPr lang="en-IN" b="1" dirty="0"/>
              <a:t>Database:</a:t>
            </a:r>
            <a:r>
              <a:rPr lang="en-IN" dirty="0"/>
              <a:t> File-based caching with JSON storage</a:t>
            </a:r>
          </a:p>
          <a:p>
            <a:pPr>
              <a:lnSpc>
                <a:spcPct val="150000"/>
              </a:lnSpc>
            </a:pPr>
            <a:r>
              <a:rPr lang="en-IN" b="1" dirty="0"/>
              <a:t>Deployment Infrastructure:</a:t>
            </a:r>
            <a:endParaRPr lang="en-IN" dirty="0"/>
          </a:p>
          <a:p>
            <a:pPr marL="808038" indent="-273050">
              <a:lnSpc>
                <a:spcPct val="150000"/>
              </a:lnSpc>
              <a:buFont typeface="Wingdings" panose="05000000000000000000" pitchFamily="2" charset="2"/>
              <a:buChar char="Ø"/>
            </a:pPr>
            <a:r>
              <a:rPr lang="en-IN" b="1" dirty="0"/>
              <a:t>Hosting Platform:</a:t>
            </a:r>
            <a:r>
              <a:rPr lang="en-IN" dirty="0"/>
              <a:t> Render.com with automatic deployments</a:t>
            </a:r>
          </a:p>
          <a:p>
            <a:pPr marL="808038" indent="-273050">
              <a:lnSpc>
                <a:spcPct val="150000"/>
              </a:lnSpc>
              <a:buFont typeface="Wingdings" panose="05000000000000000000" pitchFamily="2" charset="2"/>
              <a:buChar char="Ø"/>
            </a:pPr>
            <a:r>
              <a:rPr lang="en-IN" b="1" dirty="0"/>
              <a:t>Monitoring Service:</a:t>
            </a:r>
            <a:r>
              <a:rPr lang="en-IN" dirty="0"/>
              <a:t> </a:t>
            </a:r>
            <a:r>
              <a:rPr lang="en-IN" dirty="0" err="1"/>
              <a:t>UptimeRobot</a:t>
            </a:r>
            <a:r>
              <a:rPr lang="en-IN" dirty="0"/>
              <a:t> for 24/7 website health monitoring</a:t>
            </a:r>
          </a:p>
          <a:p>
            <a:pPr marL="808038" indent="-273050">
              <a:lnSpc>
                <a:spcPct val="150000"/>
              </a:lnSpc>
              <a:buFont typeface="Wingdings" panose="05000000000000000000" pitchFamily="2" charset="2"/>
              <a:buChar char="Ø"/>
            </a:pPr>
            <a:r>
              <a:rPr lang="en-IN" b="1" dirty="0"/>
              <a:t>Version Control:</a:t>
            </a:r>
            <a:r>
              <a:rPr lang="en-IN" dirty="0"/>
              <a:t> GitHub</a:t>
            </a:r>
          </a:p>
          <a:p>
            <a:pPr marL="808038" indent="-273050">
              <a:lnSpc>
                <a:spcPct val="150000"/>
              </a:lnSpc>
              <a:buFont typeface="Wingdings" panose="05000000000000000000" pitchFamily="2" charset="2"/>
              <a:buChar char="Ø"/>
            </a:pPr>
            <a:r>
              <a:rPr lang="en-IN" b="1" dirty="0"/>
              <a:t>Configuration Management:</a:t>
            </a:r>
            <a:r>
              <a:rPr lang="en-IN" dirty="0"/>
              <a:t> .</a:t>
            </a:r>
            <a:r>
              <a:rPr lang="en-IN" dirty="0" err="1"/>
              <a:t>yml</a:t>
            </a:r>
            <a:r>
              <a:rPr lang="en-IN" dirty="0"/>
              <a:t> files for deployment and environment settings</a:t>
            </a:r>
          </a:p>
        </p:txBody>
      </p:sp>
      <p:sp>
        <p:nvSpPr>
          <p:cNvPr id="3" name="TextBox 2">
            <a:extLst>
              <a:ext uri="{FF2B5EF4-FFF2-40B4-BE49-F238E27FC236}">
                <a16:creationId xmlns:a16="http://schemas.microsoft.com/office/drawing/2014/main" id="{FAF52C11-96A5-C6E7-C19C-7B605792F955}"/>
              </a:ext>
            </a:extLst>
          </p:cNvPr>
          <p:cNvSpPr txBox="1"/>
          <p:nvPr/>
        </p:nvSpPr>
        <p:spPr>
          <a:xfrm>
            <a:off x="8394970" y="2978720"/>
            <a:ext cx="3268494" cy="464871"/>
          </a:xfrm>
          <a:prstGeom prst="rect">
            <a:avLst/>
          </a:prstGeom>
          <a:noFill/>
        </p:spPr>
        <p:txBody>
          <a:bodyPr wrap="square">
            <a:spAutoFit/>
          </a:bodyPr>
          <a:lstStyle/>
          <a:p>
            <a:pPr>
              <a:lnSpc>
                <a:spcPct val="150000"/>
              </a:lnSpc>
            </a:pPr>
            <a:r>
              <a:rPr lang="en-US" dirty="0">
                <a:hlinkClick r:id="rId2"/>
              </a:rPr>
              <a:t>https://vulnedu.onrender.com</a:t>
            </a:r>
            <a:endParaRPr lang="en-US" dirty="0"/>
          </a:p>
        </p:txBody>
      </p:sp>
      <p:pic>
        <p:nvPicPr>
          <p:cNvPr id="6" name="Picture 5">
            <a:extLst>
              <a:ext uri="{FF2B5EF4-FFF2-40B4-BE49-F238E27FC236}">
                <a16:creationId xmlns:a16="http://schemas.microsoft.com/office/drawing/2014/main" id="{EE81FE06-C2EC-49DF-6587-C8882755316B}"/>
              </a:ext>
            </a:extLst>
          </p:cNvPr>
          <p:cNvPicPr>
            <a:picLocks noChangeAspect="1"/>
          </p:cNvPicPr>
          <p:nvPr/>
        </p:nvPicPr>
        <p:blipFill>
          <a:blip r:embed="rId3"/>
          <a:stretch>
            <a:fillRect/>
          </a:stretch>
        </p:blipFill>
        <p:spPr>
          <a:xfrm>
            <a:off x="8986521" y="2264966"/>
            <a:ext cx="1930837" cy="833771"/>
          </a:xfrm>
          <a:prstGeom prst="rect">
            <a:avLst/>
          </a:prstGeom>
          <a:ln>
            <a:noFill/>
          </a:ln>
          <a:effectLst>
            <a:softEdge rad="112500"/>
          </a:effectLst>
        </p:spPr>
      </p:pic>
    </p:spTree>
    <p:extLst>
      <p:ext uri="{BB962C8B-B14F-4D97-AF65-F5344CB8AC3E}">
        <p14:creationId xmlns:p14="http://schemas.microsoft.com/office/powerpoint/2010/main" val="4007050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71870-1B38-34B2-4969-AB5B8B230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41F26-2C85-BFFE-F3AE-314001F9E1E5}"/>
              </a:ext>
            </a:extLst>
          </p:cNvPr>
          <p:cNvSpPr>
            <a:spLocks noGrp="1"/>
          </p:cNvSpPr>
          <p:nvPr>
            <p:ph type="title"/>
          </p:nvPr>
        </p:nvSpPr>
        <p:spPr>
          <a:xfrm>
            <a:off x="1534740" y="365125"/>
            <a:ext cx="3189051" cy="1325563"/>
          </a:xfrm>
        </p:spPr>
        <p:txBody>
          <a:bodyPr/>
          <a:lstStyle/>
          <a:p>
            <a:r>
              <a:rPr lang="en-IN" b="1" dirty="0"/>
              <a:t>Feedback</a:t>
            </a:r>
            <a:endParaRPr lang="en-US" sz="3200" dirty="0"/>
          </a:p>
        </p:txBody>
      </p:sp>
      <p:sp>
        <p:nvSpPr>
          <p:cNvPr id="9" name="TextBox 8">
            <a:extLst>
              <a:ext uri="{FF2B5EF4-FFF2-40B4-BE49-F238E27FC236}">
                <a16:creationId xmlns:a16="http://schemas.microsoft.com/office/drawing/2014/main" id="{DD7E9D4A-10F8-F4C6-F842-7BAAEFABB623}"/>
              </a:ext>
            </a:extLst>
          </p:cNvPr>
          <p:cNvSpPr txBox="1"/>
          <p:nvPr/>
        </p:nvSpPr>
        <p:spPr>
          <a:xfrm>
            <a:off x="1054538" y="1831256"/>
            <a:ext cx="4561260" cy="2308324"/>
          </a:xfrm>
          <a:prstGeom prst="rect">
            <a:avLst/>
          </a:prstGeom>
          <a:noFill/>
        </p:spPr>
        <p:txBody>
          <a:bodyPr wrap="square">
            <a:spAutoFit/>
          </a:bodyPr>
          <a:lstStyle/>
          <a:p>
            <a:r>
              <a:rPr lang="en-US" dirty="0"/>
              <a:t>Help Shape the Future of VulnEdu, Drop an email with your suggestions, feature requests, feedback or ideas to improve the dashboard. </a:t>
            </a:r>
          </a:p>
          <a:p>
            <a:endParaRPr lang="en-US" dirty="0"/>
          </a:p>
          <a:p>
            <a:r>
              <a:rPr lang="en-US" dirty="0"/>
              <a:t>Your input is crucial in making this tool more effective for cybersecurity learning!</a:t>
            </a:r>
          </a:p>
          <a:p>
            <a:endParaRPr lang="en-US" dirty="0"/>
          </a:p>
          <a:p>
            <a:r>
              <a:rPr lang="en-US" b="1" dirty="0"/>
              <a:t>Email</a:t>
            </a:r>
            <a:r>
              <a:rPr lang="en-US" dirty="0"/>
              <a:t> : Veldandad@findlay.edu</a:t>
            </a:r>
            <a:endParaRPr lang="en-IN" dirty="0"/>
          </a:p>
        </p:txBody>
      </p:sp>
      <p:pic>
        <p:nvPicPr>
          <p:cNvPr id="11" name="Picture 10">
            <a:extLst>
              <a:ext uri="{FF2B5EF4-FFF2-40B4-BE49-F238E27FC236}">
                <a16:creationId xmlns:a16="http://schemas.microsoft.com/office/drawing/2014/main" id="{C44F57F7-9CA9-BCBB-5070-0C97086007D2}"/>
              </a:ext>
            </a:extLst>
          </p:cNvPr>
          <p:cNvPicPr>
            <a:picLocks noChangeAspect="1"/>
          </p:cNvPicPr>
          <p:nvPr/>
        </p:nvPicPr>
        <p:blipFill>
          <a:blip r:embed="rId2"/>
          <a:stretch>
            <a:fillRect/>
          </a:stretch>
        </p:blipFill>
        <p:spPr>
          <a:xfrm>
            <a:off x="7115036" y="1361872"/>
            <a:ext cx="3818146" cy="3818146"/>
          </a:xfrm>
          <a:prstGeom prst="rect">
            <a:avLst/>
          </a:prstGeom>
        </p:spPr>
      </p:pic>
    </p:spTree>
    <p:extLst>
      <p:ext uri="{BB962C8B-B14F-4D97-AF65-F5344CB8AC3E}">
        <p14:creationId xmlns:p14="http://schemas.microsoft.com/office/powerpoint/2010/main" val="12632782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881cbc62-9c94-4650-91c8-fbcdad032e96">65M42YJNURMD-241562491-15</_dlc_DocId>
    <_dlc_DocIdUrl xmlns="881cbc62-9c94-4650-91c8-fbcdad032e96">
      <Url>https://www.findlay.edu/offices/marketing-communication/_layouts/15/DocIdRedir.aspx?ID=65M42YJNURMD-241562491-15</Url>
      <Description>65M42YJNURMD-241562491-15</Description>
    </_dlc_DocIdUrl>
    <_dlc_DocIdPersistId xmlns="881cbc62-9c94-4650-91c8-fbcdad032e96">false</_dlc_DocIdPersistId>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6E503ACCA46442BFF61DFBA1C6F8EC" ma:contentTypeVersion="5" ma:contentTypeDescription="Create a new document." ma:contentTypeScope="" ma:versionID="3166e219251c1128606b532e38cb2061">
  <xsd:schema xmlns:xsd="http://www.w3.org/2001/XMLSchema" xmlns:xs="http://www.w3.org/2001/XMLSchema" xmlns:p="http://schemas.microsoft.com/office/2006/metadata/properties" xmlns:ns1="http://schemas.microsoft.com/sharepoint/v3" xmlns:ns2="881cbc62-9c94-4650-91c8-fbcdad032e96" targetNamespace="http://schemas.microsoft.com/office/2006/metadata/properties" ma:root="true" ma:fieldsID="f114224510ac45b4fd4df78dc3c11c2b" ns1:_="" ns2:_="">
    <xsd:import namespace="http://schemas.microsoft.com/sharepoint/v3"/>
    <xsd:import namespace="881cbc62-9c94-4650-91c8-fbcdad032e96"/>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4" nillable="true" ma:displayName="Scheduling Start Date" ma:description="" ma:internalName="PublishingStartDate">
      <xsd:simpleType>
        <xsd:restriction base="dms:Unknown"/>
      </xsd:simpleType>
    </xsd:element>
    <xsd:element name="PublishingExpirationDate" ma:index="5" nillable="true" ma:displayName="Scheduling End Date" ma:description=""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1cbc62-9c94-4650-91c8-fbcdad032e96" elementFormDefault="qualified">
    <xsd:import namespace="http://schemas.microsoft.com/office/2006/documentManagement/types"/>
    <xsd:import namespace="http://schemas.microsoft.com/office/infopath/2007/PartnerControls"/>
    <xsd:element name="_dlc_DocId" ma:index="10" nillable="true" ma:displayName="Document ID Value" ma:description="The value of the document ID assigned to this item." ma:internalName="_dlc_DocId" ma:readOnly="true">
      <xsd:simpleType>
        <xsd:restriction base="dms:Text"/>
      </xsd:simpleType>
    </xsd:element>
    <xsd:element name="_dlc_DocIdUrl" ma:index="1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Persist ID" ma:description="Keep ID on add." ma:hidden="true" ma:internalName="_dlc_DocIdPersistId" ma:readOnly="true">
      <xsd:simpleType>
        <xsd:restriction base="dms:Boolean"/>
      </xsd:simpleType>
    </xsd:element>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AFCEF9D8-DB07-4E69-A7C7-35DC9B4CA80B}">
  <ds:schemaRefs>
    <ds:schemaRef ds:uri="http://schemas.microsoft.com/sharepoint/v3/contenttype/forms"/>
  </ds:schemaRefs>
</ds:datastoreItem>
</file>

<file path=customXml/itemProps2.xml><?xml version="1.0" encoding="utf-8"?>
<ds:datastoreItem xmlns:ds="http://schemas.openxmlformats.org/officeDocument/2006/customXml" ds:itemID="{C0EC0F82-6197-43B4-BA0C-7FB8700BD24D}">
  <ds:schemaRefs>
    <ds:schemaRef ds:uri="http://schemas.microsoft.com/office/2006/metadata/properties"/>
    <ds:schemaRef ds:uri="http://schemas.microsoft.com/office/infopath/2007/PartnerControls"/>
    <ds:schemaRef ds:uri="http://schemas.microsoft.com/sharepoint/v3"/>
    <ds:schemaRef ds:uri="881cbc62-9c94-4650-91c8-fbcdad032e96"/>
  </ds:schemaRefs>
</ds:datastoreItem>
</file>

<file path=customXml/itemProps3.xml><?xml version="1.0" encoding="utf-8"?>
<ds:datastoreItem xmlns:ds="http://schemas.openxmlformats.org/officeDocument/2006/customXml" ds:itemID="{B821E71C-6C16-44B9-AA8B-A6381AEACD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81cbc62-9c94-4650-91c8-fbcdad032e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99DD4746-56AF-4145-9A74-25411276E35C}">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Office Theme</Template>
  <TotalTime>3288</TotalTime>
  <Words>2814</Words>
  <Application>Microsoft Office PowerPoint</Application>
  <PresentationFormat>Widescreen</PresentationFormat>
  <Paragraphs>186</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Educational CVE Analysis Tool  (VulnEdu Dashboard)</vt:lpstr>
      <vt:lpstr>Abstract</vt:lpstr>
      <vt:lpstr>PowerPoint Presentation</vt:lpstr>
      <vt:lpstr>The Problem</vt:lpstr>
      <vt:lpstr>The Solution</vt:lpstr>
      <vt:lpstr>The Solution</vt:lpstr>
      <vt:lpstr>Technical Highlights</vt:lpstr>
      <vt:lpstr>Research Questions</vt:lpstr>
      <vt:lpstr>Beneficiaries</vt:lpstr>
      <vt:lpstr>Impact and Learning</vt:lpstr>
      <vt:lpstr>Next steps</vt:lpstr>
      <vt:lpstr>References</vt:lpstr>
      <vt:lpstr>Appendix - Technical Specifications</vt:lpstr>
      <vt:lpstr>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Kevin Collert</dc:creator>
  <cp:lastModifiedBy>Deepti Veldanda</cp:lastModifiedBy>
  <cp:revision>33</cp:revision>
  <dcterms:created xsi:type="dcterms:W3CDTF">2016-02-10T20:28:14Z</dcterms:created>
  <dcterms:modified xsi:type="dcterms:W3CDTF">2025-10-22T23:41:21Z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0x0101008F6E503ACCA46442BFF61DFBA1C6F8EC</vt:lpwstr>
  </property>
  <property fmtid="{D5CDD505-2E9C-101B-9397-08002B2CF9AE}" pid="3" name="_dlc_DocIdItemGuid">
    <vt:lpwstr>bf7524d7-e67d-41d3-b11d-2db1d2cfe6b7</vt:lpwstr>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TemplateUrl">
    <vt:lpwstr/>
  </property>
</Properties>
</file>